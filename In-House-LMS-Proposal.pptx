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FB304F-3D22-44C2-B424-3856CE6F7070}">
  <a:tblStyle styleId="{7BFB304F-3D22-44C2-B424-3856CE6F70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8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2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2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6405C"/>
          </a:solidFill>
          <a:ln w="12700" cap="flat" cmpd="sng">
            <a:solidFill>
              <a:srgbClr val="1640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784080" y="-1005840"/>
            <a:ext cx="3931920" cy="3931920"/>
          </a:xfrm>
          <a:prstGeom prst="ellipse">
            <a:avLst/>
          </a:prstGeom>
          <a:solidFill>
            <a:srgbClr val="0F2A4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561320" y="-228600"/>
            <a:ext cx="2377440" cy="237744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92840" y="54864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640080" y="1828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06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6C066"/>
                </a:solidFill>
                <a:latin typeface="Calibri"/>
                <a:ea typeface="Calibri"/>
                <a:cs typeface="Calibri"/>
                <a:sym typeface="Calibri"/>
              </a:rPr>
              <a:t>PROPOSAL  ·  WORKFORCE CAPABILITY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94360" y="219456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 In-House Learning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Management System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4069080"/>
            <a:ext cx="7955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7D6E3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C7D6E3"/>
                </a:solidFill>
                <a:latin typeface="Calibri"/>
                <a:ea typeface="Calibri"/>
                <a:cs typeface="Calibri"/>
                <a:sym typeface="Calibri"/>
              </a:rPr>
              <a:t>One platform to build, deliver and track training across the entire workforce — technical, behavioural and managerial — built and owned by us.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640080" y="5257800"/>
            <a:ext cx="7680960" cy="0"/>
          </a:xfrm>
          <a:prstGeom prst="straightConnector1">
            <a:avLst/>
          </a:prstGeom>
          <a:noFill/>
          <a:ln w="19050" cap="flat" cmpd="sng">
            <a:solidFill>
              <a:srgbClr val="16405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640080" y="54406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066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F6C066"/>
                </a:solidFill>
                <a:latin typeface="Cambria"/>
                <a:ea typeface="Cambria"/>
                <a:cs typeface="Cambria"/>
                <a:sym typeface="Cambria"/>
              </a:rPr>
              <a:t>SCORM 2004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40080" y="58521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4C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FB4C6"/>
                </a:solidFill>
                <a:latin typeface="Calibri"/>
                <a:ea typeface="Calibri"/>
                <a:cs typeface="Calibri"/>
                <a:sym typeface="Calibri"/>
              </a:rPr>
              <a:t>3rd &amp; 4th edition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291840" y="54406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066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F6C066"/>
                </a:solidFill>
                <a:latin typeface="Cambria"/>
                <a:ea typeface="Cambria"/>
                <a:cs typeface="Cambria"/>
                <a:sym typeface="Cambria"/>
              </a:rPr>
              <a:t>10,000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291840" y="58521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4C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FB4C6"/>
                </a:solidFill>
                <a:latin typeface="Calibri"/>
                <a:ea typeface="Calibri"/>
                <a:cs typeface="Calibri"/>
                <a:sym typeface="Calibri"/>
              </a:rPr>
              <a:t>concurrent learners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943600" y="54406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066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F6C066"/>
                </a:solidFill>
                <a:latin typeface="Cambria"/>
                <a:ea typeface="Cambria"/>
                <a:cs typeface="Cambria"/>
                <a:sym typeface="Cambria"/>
              </a:rPr>
              <a:t>Build vs Buy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943600" y="58521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4C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FB4C6"/>
                </a:solidFill>
                <a:latin typeface="Calibri"/>
                <a:ea typeface="Calibri"/>
                <a:cs typeface="Calibri"/>
                <a:sym typeface="Calibri"/>
              </a:rPr>
              <a:t>10–15 yr TCO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E94A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7E94A8"/>
                </a:solidFill>
                <a:latin typeface="Calibri"/>
                <a:ea typeface="Calibri"/>
                <a:cs typeface="Calibri"/>
                <a:sym typeface="Calibri"/>
              </a:rPr>
              <a:t>Prepared for Management Review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1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08A1E"/>
                </a:solidFill>
                <a:latin typeface="Calibri"/>
                <a:ea typeface="Calibri"/>
                <a:cs typeface="Calibri"/>
                <a:sym typeface="Calibri"/>
              </a:rPr>
              <a:t>WHY NOW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75488" y="65836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A single home for workforce learning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02920" y="1554480"/>
            <a:ext cx="74066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Today, training content, records and compliance are scattered across formats, drives and vendors. A unified LMS turns that into one governed, measurable capability that reaches every employee — at their desk or from home.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02920" y="288036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>
            <a:noFill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22960" y="3200400"/>
            <a:ext cx="777240" cy="77724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70" y="33947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777240" y="41605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Every skill area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77240" y="4846320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Technical, behavioural, managerial and statutory training on one system.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291840" y="288036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>
            <a:noFill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611880" y="320040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" name="Google Shape;46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6190" y="33947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3566160" y="41605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Every content type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566160" y="4846320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SCORM courses plus video, PDF, HTML and image-based lessons.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080760" y="288036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>
            <a:noFill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400800" y="3200400"/>
            <a:ext cx="777240" cy="77724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" name="Google Shape;51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95110" y="33947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6355080" y="41605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Every employee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355080" y="4846320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Reaches the whole workforce, on the corporate network or over the internet.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869680" y="288036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>
            <a:noFill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189720" y="320040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84030" y="33947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9144000" y="41605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Every record, visible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9144000" y="4846320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Progress and scores roll up the reporting chain for full transparency.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In-House 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1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08A1E"/>
                </a:solidFill>
                <a:latin typeface="Calibri"/>
                <a:ea typeface="Calibri"/>
                <a:cs typeface="Calibri"/>
                <a:sym typeface="Calibri"/>
              </a:rPr>
              <a:t>THE PLATFORM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75488" y="65836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What we're building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02920" y="14813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 department-driven authoring and delivery engine with tracking and analytics built in.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02920" y="21488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758952" y="2441448"/>
            <a:ext cx="658368" cy="658368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544" y="260604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1600200" y="2423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Course authoring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600200" y="2862072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Authorised departments build courses with single or multiple sections.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270248" y="21488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526280" y="2441448"/>
            <a:ext cx="658368" cy="6583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Google Shape;7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0872" y="260604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5367528" y="2423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Standards + media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367528" y="2862072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SCORM 2004 v3/v4, plus video, PDF, HTML and image sequences.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8037576" y="21488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293608" y="2441448"/>
            <a:ext cx="658368" cy="658368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" name="Google Shape;81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8200" y="260604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9134856" y="242316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Quizzes &amp; marking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9134856" y="2862072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Quizzes at section start or end; n questions, scored automatically.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02920" y="41148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758952" y="4407408"/>
            <a:ext cx="658368" cy="6583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" name="Google Shape;86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3544" y="457200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1600200" y="438912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AI quiz drafts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600200" y="4828032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Auto-generate quizzes from ingested content, editable before publish.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270248" y="41148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526280" y="4407408"/>
            <a:ext cx="658368" cy="658368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0872" y="457200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5367528" y="438912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Publish or schedule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367528" y="4828032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Push courses live now, or schedule them for target audiences.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037576" y="41148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8293608" y="4407408"/>
            <a:ext cx="658368" cy="6583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58200" y="457200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9134856" y="438912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Dashboards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134856" y="4828032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Course, cohort and individual progress, status and performance.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In-House 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1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08A1E"/>
                </a:solidFill>
                <a:latin typeface="Calibri"/>
                <a:ea typeface="Calibri"/>
                <a:cs typeface="Calibri"/>
                <a:sym typeface="Calibri"/>
              </a:rPr>
              <a:t>THE DECISION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75488" y="65836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Build in-house, don't rent forever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02920" y="1481328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Off-the-shelf platforms bill per employee, every year, and box us into their roadmap. Owning the system flips recurring licence spend into a one-time asset we control.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02920" y="2240280"/>
            <a:ext cx="5486400" cy="3703320"/>
          </a:xfrm>
          <a:prstGeom prst="roundRect">
            <a:avLst>
              <a:gd name="adj" fmla="val 2469"/>
            </a:avLst>
          </a:prstGeom>
          <a:solidFill>
            <a:srgbClr val="F1F5F9"/>
          </a:solidFill>
          <a:ln>
            <a:noFill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777240" y="2514600"/>
            <a:ext cx="685800" cy="6858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8690" y="268605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1600200" y="255117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Buy off-the-shelf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600200" y="2971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SaaS / packaged product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35021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1170432" y="347472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Per-seat licences renew every year — cost scales with headcount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39776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1170432" y="39502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Roadmap &amp; priorities set by the vendor, not by us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44531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1170432" y="4425696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Learner data lives in a third-party cloud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49286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1170432" y="4901184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 content types / workflows need paid change requests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960" y="54041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1170432" y="5376672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Switching later means costly migration &amp; re-training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263640" y="2240280"/>
            <a:ext cx="5394960" cy="3703320"/>
          </a:xfrm>
          <a:prstGeom prst="roundRect">
            <a:avLst>
              <a:gd name="adj" fmla="val 2469"/>
            </a:avLst>
          </a:prstGeom>
          <a:solidFill>
            <a:srgbClr val="0F2A43"/>
          </a:solidFill>
          <a:ln>
            <a:noFill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537960" y="2514600"/>
            <a:ext cx="685800" cy="68580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09410" y="268605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7360920" y="2551176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Build in-house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360920" y="29718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06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6C066"/>
                </a:solidFill>
                <a:latin typeface="Calibri"/>
                <a:ea typeface="Calibri"/>
                <a:cs typeface="Calibri"/>
                <a:sym typeface="Calibri"/>
              </a:rPr>
              <a:t>Owned, on our infrastructure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3680" y="35021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6931152" y="34747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CF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E4ECF3"/>
                </a:solidFill>
                <a:latin typeface="Calibri"/>
                <a:ea typeface="Calibri"/>
                <a:cs typeface="Calibri"/>
                <a:sym typeface="Calibri"/>
              </a:rPr>
              <a:t>One-time build — no per-employee licence, ever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3680" y="39776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6931152" y="395020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CF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E4ECF3"/>
                </a:solidFill>
                <a:latin typeface="Calibri"/>
                <a:ea typeface="Calibri"/>
                <a:cs typeface="Calibri"/>
                <a:sym typeface="Calibri"/>
              </a:rPr>
              <a:t>Roadmap is ours: exact workflows, integrations, branding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3680" y="44531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6931152" y="442569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CF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E4ECF3"/>
                </a:solidFill>
                <a:latin typeface="Calibri"/>
                <a:ea typeface="Calibri"/>
                <a:cs typeface="Calibri"/>
                <a:sym typeface="Calibri"/>
              </a:rPr>
              <a:t>Learner &amp; HR data stays inside our own environment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3680" y="49286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6931152" y="490118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CF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E4ECF3"/>
                </a:solidFill>
                <a:latin typeface="Calibri"/>
                <a:ea typeface="Calibri"/>
                <a:cs typeface="Calibri"/>
                <a:sym typeface="Calibri"/>
              </a:rPr>
              <a:t>Any content type; AI features we can extend freely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3680" y="54041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6931152" y="537667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CF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E4ECF3"/>
                </a:solidFill>
                <a:latin typeface="Calibri"/>
                <a:ea typeface="Calibri"/>
                <a:cs typeface="Calibri"/>
                <a:sym typeface="Calibri"/>
              </a:rPr>
              <a:t>Open-source stack — no vendor lock-in or exit penalty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In-House 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1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08A1E"/>
                </a:solidFill>
                <a:latin typeface="Calibri"/>
                <a:ea typeface="Calibri"/>
                <a:cs typeface="Calibri"/>
                <a:sym typeface="Calibri"/>
              </a:rPr>
              <a:t>FLEXIBILITY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75488" y="65836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One platform, every content type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02920" y="1481328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Sections play standards-based courseware and ordinary media side by side — so existing SCORM libraries and quick in-house lessons live in the same course.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02920" y="25146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1088136" y="2880360"/>
            <a:ext cx="914400" cy="91440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6736" y="3108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640080" y="3977640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SCORM 2004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67512" y="4480560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v3 &amp; v4 packages, fully tracked (CMI / xAPI)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752344" y="25146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337560" y="288036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0" y="3108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2889504" y="3977640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Video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916936" y="4480560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Adaptive streaming with resume &amp; completion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001768" y="25146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5586984" y="2880360"/>
            <a:ext cx="914400" cy="91440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" name="Google Shape;161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5584" y="3108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5138928" y="3977640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PDF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166360" y="4480560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Documents, manuals, SOPs and handbooks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251192" y="25146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836408" y="288036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5008" y="3108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7388352" y="3977640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Image sequences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415784" y="4480560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Slide-style visual lessons, step by step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9500616" y="251460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10085832" y="2880360"/>
            <a:ext cx="914400" cy="91440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1" name="Google Shape;171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14432" y="3108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9637776" y="3977640"/>
            <a:ext cx="18105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HTML content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9665208" y="4480560"/>
            <a:ext cx="17556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Interactive pages and embedded widgets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Uniform progress tracking and scoring across all five — the learner and the reviewer see one consistent record.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In-House 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1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08A1E"/>
                </a:solidFill>
                <a:latin typeface="Calibri"/>
                <a:ea typeface="Calibri"/>
                <a:cs typeface="Calibri"/>
                <a:sym typeface="Calibri"/>
              </a:rPr>
              <a:t>WORKFLOW · AUTHORING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75488" y="65836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How a course comes together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40080" y="2286000"/>
            <a:ext cx="2487168" cy="2743200"/>
          </a:xfrm>
          <a:prstGeom prst="roundRect">
            <a:avLst>
              <a:gd name="adj" fmla="val 3676"/>
            </a:avLst>
          </a:prstGeom>
          <a:solidFill>
            <a:srgbClr val="F1F5F9"/>
          </a:solidFill>
          <a:ln>
            <a:noFill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914400" y="2578608"/>
            <a:ext cx="731520" cy="73152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" name="Google Shape;18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280" y="276148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/>
          <p:nvPr/>
        </p:nvSpPr>
        <p:spPr>
          <a:xfrm>
            <a:off x="1783080" y="2670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896112" y="3520440"/>
            <a:ext cx="20299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Authorised author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96112" y="4114800"/>
            <a:ext cx="202996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permitted department or user starts a new course.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2112" y="34290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8"/>
          <p:cNvSpPr/>
          <p:nvPr/>
        </p:nvSpPr>
        <p:spPr>
          <a:xfrm>
            <a:off x="3538728" y="2286000"/>
            <a:ext cx="2487168" cy="2743200"/>
          </a:xfrm>
          <a:prstGeom prst="roundRect">
            <a:avLst>
              <a:gd name="adj" fmla="val 3676"/>
            </a:avLst>
          </a:prstGeom>
          <a:solidFill>
            <a:srgbClr val="F1F5F9"/>
          </a:solidFill>
          <a:ln>
            <a:noFill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3813048" y="2578608"/>
            <a:ext cx="731520" cy="7315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3" name="Google Shape;193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95928" y="276148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/>
          <p:nvPr/>
        </p:nvSpPr>
        <p:spPr>
          <a:xfrm>
            <a:off x="4681728" y="2670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794760" y="3520440"/>
            <a:ext cx="20299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Add sections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794760" y="4114800"/>
            <a:ext cx="202996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or many sections — SCORM or media content.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0760" y="34290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/>
          <p:nvPr/>
        </p:nvSpPr>
        <p:spPr>
          <a:xfrm>
            <a:off x="6437376" y="2286000"/>
            <a:ext cx="2487168" cy="2743200"/>
          </a:xfrm>
          <a:prstGeom prst="roundRect">
            <a:avLst>
              <a:gd name="adj" fmla="val 3676"/>
            </a:avLst>
          </a:prstGeom>
          <a:solidFill>
            <a:srgbClr val="F1F5F9"/>
          </a:solidFill>
          <a:ln>
            <a:noFill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711696" y="2578608"/>
            <a:ext cx="731520" cy="73152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94576" y="276148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/>
          <p:nvPr/>
        </p:nvSpPr>
        <p:spPr>
          <a:xfrm>
            <a:off x="7580376" y="2670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693408" y="3520440"/>
            <a:ext cx="20299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Attach a quiz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693408" y="4114800"/>
            <a:ext cx="202996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Optional quiz at the start or end of a section.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79408" y="34290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/>
          <p:nvPr/>
        </p:nvSpPr>
        <p:spPr>
          <a:xfrm>
            <a:off x="9336024" y="2286000"/>
            <a:ext cx="2487168" cy="2743200"/>
          </a:xfrm>
          <a:prstGeom prst="roundRect">
            <a:avLst>
              <a:gd name="adj" fmla="val 3676"/>
            </a:avLst>
          </a:prstGeom>
          <a:solidFill>
            <a:srgbClr val="0F2A43"/>
          </a:solidFill>
          <a:ln>
            <a:noFill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9610344" y="2578608"/>
            <a:ext cx="731520" cy="73152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93224" y="276148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10479024" y="26700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066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6C066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9592056" y="3520440"/>
            <a:ext cx="20299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n-question scoring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9592056" y="4114800"/>
            <a:ext cx="202996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5E0E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5E0EA"/>
                </a:solidFill>
                <a:latin typeface="Calibri"/>
                <a:ea typeface="Calibri"/>
                <a:cs typeface="Calibri"/>
                <a:sym typeface="Calibri"/>
              </a:rPr>
              <a:t>Any number of questions; marks computed automatically.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7ED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868680" y="5559552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3" name="Google Shape;213;p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5840" y="56967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1600200" y="5532120"/>
            <a:ext cx="96926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Sections play in sequence. </a:t>
            </a: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engine records where each learner is, gates a section until its quiz passes, and rolls a single completion status upward.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In-House 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06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6C066"/>
                </a:solidFill>
                <a:latin typeface="Calibri"/>
                <a:ea typeface="Calibri"/>
                <a:cs typeface="Calibri"/>
                <a:sym typeface="Calibri"/>
              </a:rPr>
              <a:t>THE DIFFERENTIATOR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75488" y="74980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Quizzes that write their first draft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02920" y="1554480"/>
            <a:ext cx="7680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D6E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C7D6E3"/>
                </a:solidFill>
                <a:latin typeface="Calibri"/>
                <a:ea typeface="Calibri"/>
                <a:cs typeface="Calibri"/>
                <a:sym typeface="Calibri"/>
              </a:rPr>
              <a:t>The system ingests the course content and proposes a ready-made quiz. The department reviews and edits it before publishing — assessment authoring drops from hours to minutes, with a human always in the loop.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40080" y="278892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1640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896112" y="3063240"/>
            <a:ext cx="713232" cy="7132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7" name="Google Shape;22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4420" y="3241548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/>
          <p:nvPr/>
        </p:nvSpPr>
        <p:spPr>
          <a:xfrm>
            <a:off x="896112" y="388620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Ingest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896112" y="4325112"/>
            <a:ext cx="2057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2D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AFC2D2"/>
                </a:solidFill>
                <a:latin typeface="Calibri"/>
                <a:ea typeface="Calibri"/>
                <a:cs typeface="Calibri"/>
                <a:sym typeface="Calibri"/>
              </a:rPr>
              <a:t>Content is parsed — SCORM text, PDFs, slides, transcripts.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9544" y="37490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3383280" y="278892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1640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3639312" y="3063240"/>
            <a:ext cx="713232" cy="713232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3" name="Google Shape;233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7620" y="3241548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3639312" y="388620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Auto-draft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3639312" y="4325112"/>
            <a:ext cx="2057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2D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AFC2D2"/>
                </a:solidFill>
                <a:latin typeface="Calibri"/>
                <a:ea typeface="Calibri"/>
                <a:cs typeface="Calibri"/>
                <a:sym typeface="Calibri"/>
              </a:rPr>
              <a:t>Candidate questions, answers and distractors generated offline.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52744" y="37490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9"/>
          <p:cNvSpPr/>
          <p:nvPr/>
        </p:nvSpPr>
        <p:spPr>
          <a:xfrm>
            <a:off x="6126480" y="278892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1640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6382512" y="3063240"/>
            <a:ext cx="713232" cy="7132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9" name="Google Shape;239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60820" y="3241548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/>
          <p:nvPr/>
        </p:nvSpPr>
        <p:spPr>
          <a:xfrm>
            <a:off x="6382512" y="388620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Review &amp; edit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382512" y="4325112"/>
            <a:ext cx="2057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2D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AFC2D2"/>
                </a:solidFill>
                <a:latin typeface="Calibri"/>
                <a:ea typeface="Calibri"/>
                <a:cs typeface="Calibri"/>
                <a:sym typeface="Calibri"/>
              </a:rPr>
              <a:t>The department refines, removes or adds questions.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95944" y="37490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8869680" y="2788920"/>
            <a:ext cx="2514600" cy="2468880"/>
          </a:xfrm>
          <a:prstGeom prst="roundRect">
            <a:avLst>
              <a:gd name="adj" fmla="val 3704"/>
            </a:avLst>
          </a:prstGeom>
          <a:solidFill>
            <a:srgbClr val="1640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9125712" y="3063240"/>
            <a:ext cx="713232" cy="713232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04020" y="3241548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9"/>
          <p:cNvSpPr/>
          <p:nvPr/>
        </p:nvSpPr>
        <p:spPr>
          <a:xfrm>
            <a:off x="9125712" y="388620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Publish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9125712" y="4325112"/>
            <a:ext cx="20574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2D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AFC2D2"/>
                </a:solidFill>
                <a:latin typeface="Calibri"/>
                <a:ea typeface="Calibri"/>
                <a:cs typeface="Calibri"/>
                <a:sym typeface="Calibri"/>
              </a:rPr>
              <a:t>Approved quiz ships with the course — nothing goes live unreviewed.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6C066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F6C066"/>
                </a:solidFill>
                <a:latin typeface="Calibri"/>
                <a:ea typeface="Calibri"/>
                <a:cs typeface="Calibri"/>
                <a:sym typeface="Calibri"/>
              </a:rPr>
              <a:t>Runs as an offline batch job — no impact on live delivery, and every generated item is human-approved before it reaches a learner.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94A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94AD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94AD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94AD"/>
                </a:solidFill>
                <a:latin typeface="Calibri"/>
                <a:ea typeface="Calibri"/>
                <a:cs typeface="Calibri"/>
                <a:sym typeface="Calibri"/>
              </a:rPr>
              <a:t>In-House 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1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08A1E"/>
                </a:solidFill>
                <a:latin typeface="Calibri"/>
                <a:ea typeface="Calibri"/>
                <a:cs typeface="Calibri"/>
                <a:sym typeface="Calibri"/>
              </a:rPr>
              <a:t>WORKFLOW · DELIVERY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75488" y="65836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Publish now, or schedule ahead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02920" y="2194560"/>
            <a:ext cx="6126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777240" y="2633472"/>
            <a:ext cx="822960" cy="82296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0" name="Google Shape;260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980" y="283921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/>
          <p:nvPr/>
        </p:nvSpPr>
        <p:spPr>
          <a:xfrm>
            <a:off x="1828800" y="246888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Go live immediately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828800" y="2944368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Publish a finished course straight to its target audience — useful for urgent safety or policy updates.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02920" y="4069080"/>
            <a:ext cx="6126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777240" y="4507992"/>
            <a:ext cx="822960" cy="8229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5" name="Google Shape;265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980" y="47137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"/>
          <p:cNvSpPr/>
          <p:nvPr/>
        </p:nvSpPr>
        <p:spPr>
          <a:xfrm>
            <a:off x="1828800" y="434340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Schedule for later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828800" y="4818888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Set a release date and window so a programme opens for a cohort exactly when planned.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6903720" y="2194560"/>
            <a:ext cx="4754880" cy="35661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>
            <a:noFill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7178040" y="2468880"/>
            <a:ext cx="731520" cy="731520"/>
          </a:xfrm>
          <a:prstGeom prst="ellipse">
            <a:avLst/>
          </a:prstGeom>
          <a:solidFill>
            <a:srgbClr val="0F2A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0" name="Google Shape;270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60920" y="2651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0"/>
          <p:cNvSpPr/>
          <p:nvPr/>
        </p:nvSpPr>
        <p:spPr>
          <a:xfrm>
            <a:off x="8046720" y="254203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Target the right people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3760" y="344728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0"/>
          <p:cNvSpPr/>
          <p:nvPr/>
        </p:nvSpPr>
        <p:spPr>
          <a:xfrm>
            <a:off x="7543800" y="34290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By department, role or grade band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3760" y="40142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7543800" y="3995928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By individual or hand-picked cohort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3760" y="458114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0"/>
          <p:cNvSpPr/>
          <p:nvPr/>
        </p:nvSpPr>
        <p:spPr>
          <a:xfrm>
            <a:off x="7543800" y="456285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By location or business unit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3760" y="51480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0"/>
          <p:cNvSpPr/>
          <p:nvPr/>
        </p:nvSpPr>
        <p:spPr>
          <a:xfrm>
            <a:off x="7543800" y="5129784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Mandatory vs optional enrolment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Automated reminders and deadline nudges keep enrolment on track.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In-House 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1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08A1E"/>
                </a:solidFill>
                <a:latin typeface="Calibri"/>
                <a:ea typeface="Calibri"/>
                <a:cs typeface="Calibri"/>
                <a:sym typeface="Calibri"/>
              </a:rPr>
              <a:t>TRANSPARENCY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75488" y="65836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Progress that rolls up the chain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502920" y="1481328"/>
            <a:ext cx="58521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employee's status is visible to their reporting line — a manager sees their team, a head sees their whole function — so completion and compliance are transparent without chasing spreadsheets.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548640" y="3063240"/>
            <a:ext cx="640080" cy="64008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2" name="Google Shape;292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660" y="32232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1"/>
          <p:cNvSpPr/>
          <p:nvPr/>
        </p:nvSpPr>
        <p:spPr>
          <a:xfrm>
            <a:off x="1371600" y="302666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Line-of-sight upward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1371600" y="3374136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level sees the aggregated status of everyone beneath it.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548640" y="411480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6" name="Google Shape;296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8660" y="42748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1"/>
          <p:cNvSpPr/>
          <p:nvPr/>
        </p:nvSpPr>
        <p:spPr>
          <a:xfrm>
            <a:off x="1371600" y="407822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Scoped access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1371600" y="4425696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 only see your own sub-tree — access mirrors the org structure.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548640" y="5166360"/>
            <a:ext cx="640080" cy="64008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0" name="Google Shape;300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8660" y="53263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1"/>
          <p:cNvSpPr/>
          <p:nvPr/>
        </p:nvSpPr>
        <p:spPr>
          <a:xfrm>
            <a:off x="1371600" y="512978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Audit-ready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1371600" y="5477256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Timestamps, scores and certificates on record for compliance.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858000" y="1828800"/>
            <a:ext cx="4800600" cy="4160520"/>
          </a:xfrm>
          <a:prstGeom prst="roundRect">
            <a:avLst>
              <a:gd name="adj" fmla="val 2198"/>
            </a:avLst>
          </a:prstGeom>
          <a:solidFill>
            <a:srgbClr val="0F2A43"/>
          </a:solidFill>
          <a:ln>
            <a:noFill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8069580" y="214884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8161020" y="220370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F2A43"/>
                </a:solidFill>
                <a:latin typeface="Calibri"/>
                <a:ea typeface="Calibri"/>
                <a:cs typeface="Calibri"/>
                <a:sym typeface="Calibri"/>
              </a:rPr>
              <a:t>Function Head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8161020" y="2459736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E7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B6E7D"/>
                </a:solidFill>
                <a:latin typeface="Calibri"/>
                <a:ea typeface="Calibri"/>
                <a:cs typeface="Calibri"/>
                <a:sym typeface="Calibri"/>
              </a:rPr>
              <a:t>sees entire function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1"/>
          <p:cNvCxnSpPr/>
          <p:nvPr/>
        </p:nvCxnSpPr>
        <p:spPr>
          <a:xfrm>
            <a:off x="9258300" y="2715768"/>
            <a:ext cx="0" cy="320040"/>
          </a:xfrm>
          <a:prstGeom prst="straightConnector1">
            <a:avLst/>
          </a:prstGeom>
          <a:noFill/>
          <a:ln w="19050" cap="flat" cmpd="sng">
            <a:solidFill>
              <a:srgbClr val="5B94A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8" name="Google Shape;308;p11"/>
          <p:cNvCxnSpPr/>
          <p:nvPr/>
        </p:nvCxnSpPr>
        <p:spPr>
          <a:xfrm>
            <a:off x="7909560" y="3035808"/>
            <a:ext cx="2697480" cy="0"/>
          </a:xfrm>
          <a:prstGeom prst="straightConnector1">
            <a:avLst/>
          </a:prstGeom>
          <a:noFill/>
          <a:ln w="19050" cap="flat" cmpd="sng">
            <a:solidFill>
              <a:srgbClr val="5B94A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9" name="Google Shape;309;p11"/>
          <p:cNvSpPr/>
          <p:nvPr/>
        </p:nvSpPr>
        <p:spPr>
          <a:xfrm>
            <a:off x="7269480" y="320040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7360920" y="3255264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Manager 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7360920" y="3511296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C2D2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FC2D2"/>
                </a:solidFill>
                <a:latin typeface="Calibri"/>
                <a:ea typeface="Calibri"/>
                <a:cs typeface="Calibri"/>
                <a:sym typeface="Calibri"/>
              </a:rPr>
              <a:t>sees Team 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9372600" y="320040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9464040" y="3255264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Manager 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9464040" y="3511296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FC2D2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AFC2D2"/>
                </a:solidFill>
                <a:latin typeface="Calibri"/>
                <a:ea typeface="Calibri"/>
                <a:cs typeface="Calibri"/>
                <a:sym typeface="Calibri"/>
              </a:rPr>
              <a:t>sees Team 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11"/>
          <p:cNvCxnSpPr/>
          <p:nvPr/>
        </p:nvCxnSpPr>
        <p:spPr>
          <a:xfrm>
            <a:off x="8202168" y="3035808"/>
            <a:ext cx="0" cy="164592"/>
          </a:xfrm>
          <a:prstGeom prst="straightConnector1">
            <a:avLst/>
          </a:prstGeom>
          <a:noFill/>
          <a:ln w="19050" cap="flat" cmpd="sng">
            <a:solidFill>
              <a:srgbClr val="5B94A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6" name="Google Shape;316;p11"/>
          <p:cNvCxnSpPr/>
          <p:nvPr/>
        </p:nvCxnSpPr>
        <p:spPr>
          <a:xfrm>
            <a:off x="10305288" y="3035808"/>
            <a:ext cx="0" cy="164592"/>
          </a:xfrm>
          <a:prstGeom prst="straightConnector1">
            <a:avLst/>
          </a:prstGeom>
          <a:noFill/>
          <a:ln w="19050" cap="flat" cmpd="sng">
            <a:solidFill>
              <a:srgbClr val="5B94AD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7" name="Google Shape;317;p11"/>
          <p:cNvCxnSpPr/>
          <p:nvPr/>
        </p:nvCxnSpPr>
        <p:spPr>
          <a:xfrm>
            <a:off x="8202168" y="3767328"/>
            <a:ext cx="0" cy="137160"/>
          </a:xfrm>
          <a:prstGeom prst="straightConnector1">
            <a:avLst/>
          </a:prstGeom>
          <a:noFill/>
          <a:ln w="15225" cap="flat" cmpd="sng">
            <a:solidFill>
              <a:srgbClr val="3E617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8" name="Google Shape;318;p11"/>
          <p:cNvCxnSpPr/>
          <p:nvPr/>
        </p:nvCxnSpPr>
        <p:spPr>
          <a:xfrm>
            <a:off x="10305288" y="3767328"/>
            <a:ext cx="0" cy="137160"/>
          </a:xfrm>
          <a:prstGeom prst="straightConnector1">
            <a:avLst/>
          </a:prstGeom>
          <a:noFill/>
          <a:ln w="15225" cap="flat" cmpd="sng">
            <a:solidFill>
              <a:srgbClr val="3E617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9" name="Google Shape;319;p11"/>
          <p:cNvCxnSpPr/>
          <p:nvPr/>
        </p:nvCxnSpPr>
        <p:spPr>
          <a:xfrm>
            <a:off x="7498080" y="3904488"/>
            <a:ext cx="1508760" cy="0"/>
          </a:xfrm>
          <a:prstGeom prst="straightConnector1">
            <a:avLst/>
          </a:prstGeom>
          <a:noFill/>
          <a:ln w="15225" cap="flat" cmpd="sng">
            <a:solidFill>
              <a:srgbClr val="3E617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0" name="Google Shape;320;p11"/>
          <p:cNvCxnSpPr/>
          <p:nvPr/>
        </p:nvCxnSpPr>
        <p:spPr>
          <a:xfrm>
            <a:off x="9601200" y="3904488"/>
            <a:ext cx="1508760" cy="0"/>
          </a:xfrm>
          <a:prstGeom prst="straightConnector1">
            <a:avLst/>
          </a:prstGeom>
          <a:noFill/>
          <a:ln w="15225" cap="flat" cmpd="sng">
            <a:solidFill>
              <a:srgbClr val="3E617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" name="Google Shape;321;p11"/>
          <p:cNvCxnSpPr/>
          <p:nvPr/>
        </p:nvCxnSpPr>
        <p:spPr>
          <a:xfrm>
            <a:off x="7626096" y="3904488"/>
            <a:ext cx="0" cy="164592"/>
          </a:xfrm>
          <a:prstGeom prst="straightConnector1">
            <a:avLst/>
          </a:prstGeom>
          <a:noFill/>
          <a:ln w="15225" cap="flat" cmpd="sng">
            <a:solidFill>
              <a:srgbClr val="3E6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2" name="Google Shape;322;p11"/>
          <p:cNvSpPr/>
          <p:nvPr/>
        </p:nvSpPr>
        <p:spPr>
          <a:xfrm>
            <a:off x="7242048" y="4343400"/>
            <a:ext cx="777240" cy="548640"/>
          </a:xfrm>
          <a:prstGeom prst="roundRect">
            <a:avLst>
              <a:gd name="adj" fmla="val 8333"/>
            </a:avLst>
          </a:prstGeom>
          <a:solidFill>
            <a:srgbClr val="16405C"/>
          </a:solidFill>
          <a:ln w="12700" cap="flat" cmpd="sng">
            <a:solidFill>
              <a:srgbClr val="3E61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7242048" y="43891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FD69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6FD69B"/>
                </a:solidFill>
                <a:latin typeface="Cambria"/>
                <a:ea typeface="Cambria"/>
                <a:cs typeface="Cambria"/>
                <a:sym typeface="Cambria"/>
              </a:rPr>
              <a:t>82%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7242048" y="4654296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A0B2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AA0B2"/>
                </a:solidFill>
                <a:latin typeface="Calibri"/>
                <a:ea typeface="Calibri"/>
                <a:cs typeface="Calibri"/>
                <a:sym typeface="Calibri"/>
              </a:rPr>
              <a:t>learner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11"/>
          <p:cNvCxnSpPr/>
          <p:nvPr/>
        </p:nvCxnSpPr>
        <p:spPr>
          <a:xfrm>
            <a:off x="8540496" y="3904488"/>
            <a:ext cx="0" cy="164592"/>
          </a:xfrm>
          <a:prstGeom prst="straightConnector1">
            <a:avLst/>
          </a:prstGeom>
          <a:noFill/>
          <a:ln w="15225" cap="flat" cmpd="sng">
            <a:solidFill>
              <a:srgbClr val="3E6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6" name="Google Shape;326;p11"/>
          <p:cNvSpPr/>
          <p:nvPr/>
        </p:nvSpPr>
        <p:spPr>
          <a:xfrm>
            <a:off x="8156448" y="4343400"/>
            <a:ext cx="777240" cy="548640"/>
          </a:xfrm>
          <a:prstGeom prst="roundRect">
            <a:avLst>
              <a:gd name="adj" fmla="val 8333"/>
            </a:avLst>
          </a:prstGeom>
          <a:solidFill>
            <a:srgbClr val="16405C"/>
          </a:solidFill>
          <a:ln w="12700" cap="flat" cmpd="sng">
            <a:solidFill>
              <a:srgbClr val="3E61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8156448" y="43891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6C066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6C066"/>
                </a:solidFill>
                <a:latin typeface="Cambria"/>
                <a:ea typeface="Cambria"/>
                <a:cs typeface="Cambria"/>
                <a:sym typeface="Cambria"/>
              </a:rPr>
              <a:t>60%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8156448" y="4654296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A0B2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AA0B2"/>
                </a:solidFill>
                <a:latin typeface="Calibri"/>
                <a:ea typeface="Calibri"/>
                <a:cs typeface="Calibri"/>
                <a:sym typeface="Calibri"/>
              </a:rPr>
              <a:t>learner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11"/>
          <p:cNvCxnSpPr/>
          <p:nvPr/>
        </p:nvCxnSpPr>
        <p:spPr>
          <a:xfrm>
            <a:off x="9756648" y="3904488"/>
            <a:ext cx="0" cy="164592"/>
          </a:xfrm>
          <a:prstGeom prst="straightConnector1">
            <a:avLst/>
          </a:prstGeom>
          <a:noFill/>
          <a:ln w="15225" cap="flat" cmpd="sng">
            <a:solidFill>
              <a:srgbClr val="3E6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0" name="Google Shape;330;p11"/>
          <p:cNvSpPr/>
          <p:nvPr/>
        </p:nvSpPr>
        <p:spPr>
          <a:xfrm>
            <a:off x="9372600" y="4343400"/>
            <a:ext cx="777240" cy="548640"/>
          </a:xfrm>
          <a:prstGeom prst="roundRect">
            <a:avLst>
              <a:gd name="adj" fmla="val 8333"/>
            </a:avLst>
          </a:prstGeom>
          <a:solidFill>
            <a:srgbClr val="16405C"/>
          </a:solidFill>
          <a:ln w="12700" cap="flat" cmpd="sng">
            <a:solidFill>
              <a:srgbClr val="3E61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9372600" y="43891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FD69B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6FD69B"/>
                </a:solidFill>
                <a:latin typeface="Cambria"/>
                <a:ea typeface="Cambria"/>
                <a:cs typeface="Cambria"/>
                <a:sym typeface="Cambria"/>
              </a:rPr>
              <a:t>100%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9372600" y="4654296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A0B2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AA0B2"/>
                </a:solidFill>
                <a:latin typeface="Calibri"/>
                <a:ea typeface="Calibri"/>
                <a:cs typeface="Calibri"/>
                <a:sym typeface="Calibri"/>
              </a:rPr>
              <a:t>learner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11"/>
          <p:cNvCxnSpPr/>
          <p:nvPr/>
        </p:nvCxnSpPr>
        <p:spPr>
          <a:xfrm>
            <a:off x="10671048" y="3904488"/>
            <a:ext cx="0" cy="164592"/>
          </a:xfrm>
          <a:prstGeom prst="straightConnector1">
            <a:avLst/>
          </a:prstGeom>
          <a:noFill/>
          <a:ln w="15225" cap="flat" cmpd="sng">
            <a:solidFill>
              <a:srgbClr val="3E6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4" name="Google Shape;334;p11"/>
          <p:cNvSpPr/>
          <p:nvPr/>
        </p:nvSpPr>
        <p:spPr>
          <a:xfrm>
            <a:off x="10287000" y="4343400"/>
            <a:ext cx="777240" cy="548640"/>
          </a:xfrm>
          <a:prstGeom prst="roundRect">
            <a:avLst>
              <a:gd name="adj" fmla="val 8333"/>
            </a:avLst>
          </a:prstGeom>
          <a:solidFill>
            <a:srgbClr val="16405C"/>
          </a:solidFill>
          <a:ln w="12700" cap="flat" cmpd="sng">
            <a:solidFill>
              <a:srgbClr val="3E61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10287000" y="43891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8A7D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E88A7D"/>
                </a:solidFill>
                <a:latin typeface="Cambria"/>
                <a:ea typeface="Cambria"/>
                <a:cs typeface="Cambria"/>
                <a:sym typeface="Cambria"/>
              </a:rPr>
              <a:t>45%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10287000" y="4654296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A0B2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8AA0B2"/>
                </a:solidFill>
                <a:latin typeface="Calibri"/>
                <a:ea typeface="Calibri"/>
                <a:cs typeface="Calibri"/>
                <a:sym typeface="Calibri"/>
              </a:rPr>
              <a:t>learner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7132320" y="5212080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2D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AFC2D2"/>
                </a:solidFill>
                <a:latin typeface="Calibri"/>
                <a:ea typeface="Calibri"/>
                <a:cs typeface="Calibri"/>
                <a:sym typeface="Calibri"/>
              </a:rPr>
              <a:t>Completion % rolls upward — leaders see their whole sub-tree at a glance.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In-House 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1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08A1E"/>
                </a:solidFill>
                <a:latin typeface="Calibri"/>
                <a:ea typeface="Calibri"/>
                <a:cs typeface="Calibri"/>
                <a:sym typeface="Calibri"/>
              </a:rPr>
              <a:t>INSIGHT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475488" y="65836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Dashboards for every level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same data, framed for the audience — leadership sees the programme, managers see cohorts, learners see themselves.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502920" y="214884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731520" y="2404872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2"/>
          <p:cNvSpPr/>
          <p:nvPr/>
        </p:nvSpPr>
        <p:spPr>
          <a:xfrm>
            <a:off x="886968" y="2551176"/>
            <a:ext cx="566928" cy="566928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1" name="Google Shape;351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" y="269290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2"/>
          <p:cNvSpPr/>
          <p:nvPr/>
        </p:nvSpPr>
        <p:spPr>
          <a:xfrm>
            <a:off x="1600200" y="260604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Organisation view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528" y="354787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2"/>
          <p:cNvSpPr/>
          <p:nvPr/>
        </p:nvSpPr>
        <p:spPr>
          <a:xfrm>
            <a:off x="1069848" y="3520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Courses live, scheduled &amp; archived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528" y="40965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2"/>
          <p:cNvSpPr/>
          <p:nvPr/>
        </p:nvSpPr>
        <p:spPr>
          <a:xfrm>
            <a:off x="1069848" y="40690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Enrolment &amp; completion rates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528" y="46451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2"/>
          <p:cNvSpPr/>
          <p:nvPr/>
        </p:nvSpPr>
        <p:spPr>
          <a:xfrm>
            <a:off x="1069848" y="46177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Compliance status by unit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528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2"/>
          <p:cNvSpPr/>
          <p:nvPr/>
        </p:nvSpPr>
        <p:spPr>
          <a:xfrm>
            <a:off x="1069848" y="5166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Trends over time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4270248" y="214884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4498848" y="2404872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2"/>
          <p:cNvSpPr/>
          <p:nvPr/>
        </p:nvSpPr>
        <p:spPr>
          <a:xfrm>
            <a:off x="4654296" y="2551176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4" name="Google Shape;364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96028" y="269290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2"/>
          <p:cNvSpPr/>
          <p:nvPr/>
        </p:nvSpPr>
        <p:spPr>
          <a:xfrm>
            <a:off x="5367528" y="260604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Cohort view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2856" y="354787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2"/>
          <p:cNvSpPr/>
          <p:nvPr/>
        </p:nvSpPr>
        <p:spPr>
          <a:xfrm>
            <a:off x="4837176" y="3520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Team progress side by side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2856" y="40965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2"/>
          <p:cNvSpPr/>
          <p:nvPr/>
        </p:nvSpPr>
        <p:spPr>
          <a:xfrm>
            <a:off x="4837176" y="40690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 scores per course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2856" y="46451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2"/>
          <p:cNvSpPr/>
          <p:nvPr/>
        </p:nvSpPr>
        <p:spPr>
          <a:xfrm>
            <a:off x="4837176" y="46177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Overdue &amp; at-risk learners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2856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2"/>
          <p:cNvSpPr/>
          <p:nvPr/>
        </p:nvSpPr>
        <p:spPr>
          <a:xfrm>
            <a:off x="4837176" y="5166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Drill down to a person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8037576" y="214884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8266176" y="2404872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8421624" y="2551176"/>
            <a:ext cx="566928" cy="566928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7" name="Google Shape;377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63356" y="269290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2"/>
          <p:cNvSpPr/>
          <p:nvPr/>
        </p:nvSpPr>
        <p:spPr>
          <a:xfrm>
            <a:off x="9134856" y="2606040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Individual view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0184" y="354787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2"/>
          <p:cNvSpPr/>
          <p:nvPr/>
        </p:nvSpPr>
        <p:spPr>
          <a:xfrm>
            <a:off x="8604504" y="35204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Course &amp; section progress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0184" y="40965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2"/>
          <p:cNvSpPr/>
          <p:nvPr/>
        </p:nvSpPr>
        <p:spPr>
          <a:xfrm>
            <a:off x="8604504" y="40690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Quiz scores and attempts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0184" y="46451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2"/>
          <p:cNvSpPr/>
          <p:nvPr/>
        </p:nvSpPr>
        <p:spPr>
          <a:xfrm>
            <a:off x="8604504" y="46177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Certificates earned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0184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2"/>
          <p:cNvSpPr/>
          <p:nvPr/>
        </p:nvSpPr>
        <p:spPr>
          <a:xfrm>
            <a:off x="8604504" y="5166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What's due next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In-House 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1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08A1E"/>
                </a:solidFill>
                <a:latin typeface="Calibri"/>
                <a:ea typeface="Calibri"/>
                <a:cs typeface="Calibri"/>
                <a:sym typeface="Calibri"/>
              </a:rPr>
              <a:t>DE-RISKED DELIVERY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475488" y="658368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Prove it small, then scale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502920" y="2194560"/>
            <a:ext cx="3520440" cy="37033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6"/>
          <p:cNvSpPr/>
          <p:nvPr/>
        </p:nvSpPr>
        <p:spPr>
          <a:xfrm>
            <a:off x="777240" y="2487168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5" name="Google Shape;505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550" y="2681478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6"/>
          <p:cNvSpPr/>
          <p:nvPr/>
        </p:nvSpPr>
        <p:spPr>
          <a:xfrm>
            <a:off x="1691640" y="25603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~1 month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777240" y="34290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Phase 1 · Pilot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8" name="Google Shape;508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528" y="40507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6"/>
          <p:cNvSpPr/>
          <p:nvPr/>
        </p:nvSpPr>
        <p:spPr>
          <a:xfrm>
            <a:off x="1051560" y="4023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Limited hardware / a few nodes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0" name="Google Shape;510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528" y="45079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6"/>
          <p:cNvSpPr/>
          <p:nvPr/>
        </p:nvSpPr>
        <p:spPr>
          <a:xfrm>
            <a:off x="1051560" y="4480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1–2 departments, a handful of courses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" name="Google Shape;512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528" y="49651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16"/>
          <p:cNvSpPr/>
          <p:nvPr/>
        </p:nvSpPr>
        <p:spPr>
          <a:xfrm>
            <a:off x="1051560" y="49377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learners, real content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4" name="Google Shape;514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5528" y="54223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6"/>
          <p:cNvSpPr/>
          <p:nvPr/>
        </p:nvSpPr>
        <p:spPr>
          <a:xfrm>
            <a:off x="1051560" y="5394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Measure stability, UX &amp; load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6" name="Google Shape;516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78224" y="38862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6"/>
          <p:cNvSpPr/>
          <p:nvPr/>
        </p:nvSpPr>
        <p:spPr>
          <a:xfrm>
            <a:off x="4297680" y="2194560"/>
            <a:ext cx="3520440" cy="37033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 cap="flat" cmpd="sng">
            <a:solidFill>
              <a:srgbClr val="D8E0E8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6"/>
          <p:cNvSpPr/>
          <p:nvPr/>
        </p:nvSpPr>
        <p:spPr>
          <a:xfrm>
            <a:off x="4572000" y="2487168"/>
            <a:ext cx="777240" cy="77724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9" name="Google Shape;519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6310" y="2681478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6"/>
          <p:cNvSpPr/>
          <p:nvPr/>
        </p:nvSpPr>
        <p:spPr>
          <a:xfrm>
            <a:off x="5486400" y="25603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8A1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08A1E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4572000" y="34290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A43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0F2A43"/>
                </a:solidFill>
                <a:latin typeface="Cambria"/>
                <a:ea typeface="Cambria"/>
                <a:cs typeface="Cambria"/>
                <a:sym typeface="Cambria"/>
              </a:rPr>
              <a:t>Gate · Evaluate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2" name="Google Shape;522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90288" y="40507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6"/>
          <p:cNvSpPr/>
          <p:nvPr/>
        </p:nvSpPr>
        <p:spPr>
          <a:xfrm>
            <a:off x="4846320" y="4023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Review pilot metrics &amp; feedback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4" name="Google Shape;524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90288" y="45079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6"/>
          <p:cNvSpPr/>
          <p:nvPr/>
        </p:nvSpPr>
        <p:spPr>
          <a:xfrm>
            <a:off x="4846320" y="4480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Confirm sizing assumptions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6" name="Google Shape;526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90288" y="49651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6"/>
          <p:cNvSpPr/>
          <p:nvPr/>
        </p:nvSpPr>
        <p:spPr>
          <a:xfrm>
            <a:off x="4846320" y="49377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 / no-go with management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8" name="Google Shape;528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90288" y="54223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6"/>
          <p:cNvSpPr/>
          <p:nvPr/>
        </p:nvSpPr>
        <p:spPr>
          <a:xfrm>
            <a:off x="4846320" y="5394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Lock the production design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0" name="Google Shape;530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72984" y="38862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6"/>
          <p:cNvSpPr/>
          <p:nvPr/>
        </p:nvSpPr>
        <p:spPr>
          <a:xfrm>
            <a:off x="8092440" y="2194560"/>
            <a:ext cx="3520440" cy="3703320"/>
          </a:xfrm>
          <a:prstGeom prst="roundRect">
            <a:avLst>
              <a:gd name="adj" fmla="val 2597"/>
            </a:avLst>
          </a:prstGeom>
          <a:solidFill>
            <a:srgbClr val="0F2A43"/>
          </a:solidFill>
          <a:ln w="12700" cap="flat" cmpd="sng">
            <a:solidFill>
              <a:srgbClr val="0F2A4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F2A43">
                <a:alpha val="1607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6"/>
          <p:cNvSpPr/>
          <p:nvPr/>
        </p:nvSpPr>
        <p:spPr>
          <a:xfrm>
            <a:off x="8366760" y="2487168"/>
            <a:ext cx="777240" cy="77724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3" name="Google Shape;533;p1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61070" y="2681478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6"/>
          <p:cNvSpPr/>
          <p:nvPr/>
        </p:nvSpPr>
        <p:spPr>
          <a:xfrm>
            <a:off x="9281160" y="25603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066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6C066"/>
                </a:solidFill>
                <a:latin typeface="Calibri"/>
                <a:ea typeface="Calibri"/>
                <a:cs typeface="Calibri"/>
                <a:sym typeface="Calibri"/>
              </a:rPr>
              <a:t>Org-wide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8366760" y="34290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Phase 2 · Full rollout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6" name="Google Shape;536;p1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5048" y="40507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6"/>
          <p:cNvSpPr/>
          <p:nvPr/>
        </p:nvSpPr>
        <p:spPr>
          <a:xfrm>
            <a:off x="8641080" y="4023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E0E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5E0EA"/>
                </a:solidFill>
                <a:latin typeface="Calibri"/>
                <a:ea typeface="Calibri"/>
                <a:cs typeface="Calibri"/>
                <a:sym typeface="Calibri"/>
              </a:rPr>
              <a:t>Full HA cluster on-premise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8" name="Google Shape;538;p1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5048" y="45079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6"/>
          <p:cNvSpPr/>
          <p:nvPr/>
        </p:nvSpPr>
        <p:spPr>
          <a:xfrm>
            <a:off x="8641080" y="4480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E0E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5E0EA"/>
                </a:solidFill>
                <a:latin typeface="Calibri"/>
                <a:ea typeface="Calibri"/>
                <a:cs typeface="Calibri"/>
                <a:sym typeface="Calibri"/>
              </a:rPr>
              <a:t>Scale to 10,000 concurrent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0" name="Google Shape;540;p1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5048" y="49651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6"/>
          <p:cNvSpPr/>
          <p:nvPr/>
        </p:nvSpPr>
        <p:spPr>
          <a:xfrm>
            <a:off x="8641080" y="49377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E0E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5E0EA"/>
                </a:solidFill>
                <a:latin typeface="Calibri"/>
                <a:ea typeface="Calibri"/>
                <a:cs typeface="Calibri"/>
                <a:sym typeface="Calibri"/>
              </a:rPr>
              <a:t>All departments onboarded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2" name="Google Shape;542;p1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5048" y="5422392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6"/>
          <p:cNvSpPr/>
          <p:nvPr/>
        </p:nvSpPr>
        <p:spPr>
          <a:xfrm>
            <a:off x="8641080" y="5394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E0E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5E0EA"/>
                </a:solidFill>
                <a:latin typeface="Calibri"/>
                <a:ea typeface="Calibri"/>
                <a:cs typeface="Calibri"/>
                <a:sym typeface="Calibri"/>
              </a:rPr>
              <a:t>Reverse proxy for home access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6"/>
          <p:cNvSpPr/>
          <p:nvPr/>
        </p:nvSpPr>
        <p:spPr>
          <a:xfrm>
            <a:off x="502920" y="64008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In-House LMS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7"/>
          <p:cNvSpPr/>
          <p:nvPr/>
        </p:nvSpPr>
        <p:spPr>
          <a:xfrm>
            <a:off x="9326880" y="4023360"/>
            <a:ext cx="5486400" cy="5486400"/>
          </a:xfrm>
          <a:prstGeom prst="ellipse">
            <a:avLst/>
          </a:prstGeom>
          <a:solidFill>
            <a:srgbClr val="1640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7"/>
          <p:cNvSpPr/>
          <p:nvPr/>
        </p:nvSpPr>
        <p:spPr>
          <a:xfrm>
            <a:off x="10332720" y="5029200"/>
            <a:ext cx="3474720" cy="3474720"/>
          </a:xfrm>
          <a:prstGeom prst="ellipse">
            <a:avLst/>
          </a:prstGeom>
          <a:solidFill>
            <a:srgbClr val="0F2A4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7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06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6C066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594360" y="96012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Approve an in-house LMS,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starting with a one-month pilot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640080" y="242316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7D6E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C7D6E3"/>
                </a:solidFill>
                <a:latin typeface="Calibri"/>
                <a:ea typeface="Calibri"/>
                <a:cs typeface="Calibri"/>
                <a:sym typeface="Calibri"/>
              </a:rPr>
              <a:t>A platform we own, that reaches every employee, on infrastructure that pays for itself against years of per-seat licensing and cloud egress.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640080" y="342900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1640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7"/>
          <p:cNvSpPr/>
          <p:nvPr/>
        </p:nvSpPr>
        <p:spPr>
          <a:xfrm>
            <a:off x="896112" y="3685032"/>
            <a:ext cx="548640" cy="54864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8" name="Google Shape;558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38221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7"/>
          <p:cNvSpPr/>
          <p:nvPr/>
        </p:nvSpPr>
        <p:spPr>
          <a:xfrm>
            <a:off x="1600200" y="361188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Approve the pilot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1600200" y="397764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2D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AFC2D2"/>
                </a:solidFill>
                <a:latin typeface="Calibri"/>
                <a:ea typeface="Calibri"/>
                <a:cs typeface="Calibri"/>
                <a:sym typeface="Calibri"/>
              </a:rPr>
              <a:t>Green-light Phase 1 on limited hardware for ~1 month.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6126480" y="342900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1640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7"/>
          <p:cNvSpPr/>
          <p:nvPr/>
        </p:nvSpPr>
        <p:spPr>
          <a:xfrm>
            <a:off x="6382512" y="3685032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3" name="Google Shape;563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9672" y="38221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17"/>
          <p:cNvSpPr/>
          <p:nvPr/>
        </p:nvSpPr>
        <p:spPr>
          <a:xfrm>
            <a:off x="7086600" y="361188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Assign a small team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7086600" y="397764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2D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AFC2D2"/>
                </a:solidFill>
                <a:latin typeface="Calibri"/>
                <a:ea typeface="Calibri"/>
                <a:cs typeface="Calibri"/>
                <a:sym typeface="Calibri"/>
              </a:rPr>
              <a:t>A core build team plus 1–2 pilot departments.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640080" y="466344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1640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7"/>
          <p:cNvSpPr/>
          <p:nvPr/>
        </p:nvSpPr>
        <p:spPr>
          <a:xfrm>
            <a:off x="896112" y="4919472"/>
            <a:ext cx="548640" cy="548640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8" name="Google Shape;568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3272" y="50566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17"/>
          <p:cNvSpPr/>
          <p:nvPr/>
        </p:nvSpPr>
        <p:spPr>
          <a:xfrm>
            <a:off x="1600200" y="484632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Reserve pilot resources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/>
          <p:nvPr/>
        </p:nvSpPr>
        <p:spPr>
          <a:xfrm>
            <a:off x="1600200" y="521208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2D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AFC2D2"/>
                </a:solidFill>
                <a:latin typeface="Calibri"/>
                <a:ea typeface="Calibri"/>
                <a:cs typeface="Calibri"/>
                <a:sym typeface="Calibri"/>
              </a:rPr>
              <a:t>A few nodes from existing data-centre capacity.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/>
          <p:nvPr/>
        </p:nvSpPr>
        <p:spPr>
          <a:xfrm>
            <a:off x="6126480" y="466344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1640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7"/>
          <p:cNvSpPr/>
          <p:nvPr/>
        </p:nvSpPr>
        <p:spPr>
          <a:xfrm>
            <a:off x="6382512" y="4919472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3" name="Google Shape;573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9672" y="50566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17"/>
          <p:cNvSpPr/>
          <p:nvPr/>
        </p:nvSpPr>
        <p:spPr>
          <a:xfrm>
            <a:off x="7086600" y="484632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Set success criteria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7086600" y="521208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C2D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AFC2D2"/>
                </a:solidFill>
                <a:latin typeface="Calibri"/>
                <a:ea typeface="Calibri"/>
                <a:cs typeface="Calibri"/>
                <a:sym typeface="Calibri"/>
              </a:rPr>
              <a:t>Agree the metrics that trigger full rollout.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7"/>
          <p:cNvSpPr/>
          <p:nvPr/>
        </p:nvSpPr>
        <p:spPr>
          <a:xfrm>
            <a:off x="640080" y="617220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066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F6C066"/>
                </a:solidFill>
                <a:latin typeface="Calibri"/>
                <a:ea typeface="Calibri"/>
                <a:cs typeface="Calibri"/>
                <a:sym typeface="Calibri"/>
              </a:rPr>
              <a:t>Low-risk to start · owned for the long term · built to scale to the whole workforce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1231</Words>
  <Application>Microsoft Office PowerPoint</Application>
  <PresentationFormat>Widescreen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NITIN DUA-95257</cp:lastModifiedBy>
  <cp:revision>1</cp:revision>
  <dcterms:modified xsi:type="dcterms:W3CDTF">2026-07-02T18:47:47Z</dcterms:modified>
</cp:coreProperties>
</file>