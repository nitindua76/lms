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ADLaM Display" panose="02010000000000000000" pitchFamily="2" charset="0"/>
      <p:regular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Plus Jakarta Sans" panose="020B0604020202020204" charset="0"/>
      <p:regular r:id="rId21"/>
      <p:bold r:id="rId22"/>
      <p:italic r:id="rId23"/>
      <p:boldItalic r:id="rId24"/>
    </p:embeddedFont>
    <p:embeddedFont>
      <p:font typeface="Plus Jakarta Sans ExtraBold" panose="020B0604020202020204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D77416-37B2-436F-B4EA-2C1189C4DF70}">
  <a:tblStyle styleId="{0DD77416-37B2-436F-B4EA-2C1189C4DF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836" y="6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6FC41748-E9B6-E720-5301-AD7E05B6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363822D-F9D4-7B35-757F-D70AF7B800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EBB5432F-0FEA-EDAC-D7C3-40D0C151E7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939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1" name="Google Shape;2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95375" y="2160389"/>
            <a:ext cx="10001250" cy="15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Unified </a:t>
            </a:r>
            <a:r>
              <a:rPr lang="en-US" sz="5400" b="0" i="0" u="none" strike="noStrike" cap="non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Learning Management</a:t>
            </a:r>
            <a:r>
              <a:rPr lang="en-US" sz="54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966269"/>
            <a:ext cx="85725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In-House Pilot Proposal: A single platform to build, deliver, and track technical and behavioral trainings organization-wide.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571500"/>
            <a:ext cx="70739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F172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us Jakarta Sans ExtraBold"/>
              </a:rPr>
              <a:t>Strategic Background &amp; Objective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71500" y="1685925"/>
            <a:ext cx="523875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171566"/>
            <a:ext cx="5238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Single Platform for Organizational Learning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71501" y="2764203"/>
            <a:ext cx="6731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Currently, training records and compliance data are scattered. We propose a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unified LMS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host, assign, and track all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technical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behavioral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training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571501" y="4026967"/>
            <a:ext cx="67310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Crucially,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every training will feature a built-in assessment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rather than a disconnected test. Progress will be completely transparent, visible to both the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individual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learner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their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controlling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officer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" name="Picture 1" descr="Unified Learning Platform - SimpliTrain LMS">
            <a:extLst>
              <a:ext uri="{FF2B5EF4-FFF2-40B4-BE49-F238E27FC236}">
                <a16:creationId xmlns:a16="http://schemas.microsoft.com/office/drawing/2014/main" id="{59B331FD-C539-4EBF-8D6B-C2F7475F8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246" y="1385246"/>
            <a:ext cx="4266253" cy="42662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43025"/>
            <a:ext cx="5334000" cy="463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343025"/>
            <a:ext cx="5334000" cy="463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17335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895475" y="2000250"/>
            <a:ext cx="47805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Objectives Met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2782276"/>
            <a:ext cx="45529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single platform has been established where training for all executives can be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hosted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tracked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seamlessly.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3972394"/>
            <a:ext cx="45529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successfully integrates built-in assessments directly into the </a:t>
            </a:r>
            <a:r>
              <a:rPr lang="en-US" sz="1350" b="0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learning flow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eliminating disconnected external tests.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Dual dashboard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visibility ensures transparent tracking for both individuals and management.</a:t>
            </a:r>
            <a:endParaRPr dirty="0"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17335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40003" y="2000250"/>
            <a:ext cx="47805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Built Pilot (Ready for DC)</a:t>
            </a:r>
            <a:endParaRPr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6677025" y="2782276"/>
            <a:ext cx="45529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Developed entirely in-house by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Sh. Nitin Dua, CM (Prog.)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with inputs from the Strategy Group.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6677025" y="3943349"/>
            <a:ext cx="455295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features robust course authoring with auto-scored quizzes. It fully supports </a:t>
            </a: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industry standard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SCORM-based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courses alongside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video, PDF, and HTML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It is currently populated with dummy data and ready to be mounted on Data Centre infrastructure.</a:t>
            </a:r>
            <a:endParaRPr dirty="0"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3475" y="1905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00850" y="19050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000">
                <a:solidFill>
                  <a:srgbClr val="0F172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 dirty="0">
                <a:sym typeface="Plus Jakarta Sans ExtraBold"/>
              </a:rPr>
              <a:t>Pilot Status: Objectives Achieved</a:t>
            </a:r>
            <a:endParaRPr dirty="0"/>
          </a:p>
        </p:txBody>
      </p:sp>
      <p:sp>
        <p:nvSpPr>
          <p:cNvPr id="116" name="Google Shape;116;p15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>
          <a:extLst>
            <a:ext uri="{FF2B5EF4-FFF2-40B4-BE49-F238E27FC236}">
              <a16:creationId xmlns:a16="http://schemas.microsoft.com/office/drawing/2014/main" id="{C20E2BEE-16D0-E3F3-3060-FAEACBADF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>
            <a:extLst>
              <a:ext uri="{FF2B5EF4-FFF2-40B4-BE49-F238E27FC236}">
                <a16:creationId xmlns:a16="http://schemas.microsoft.com/office/drawing/2014/main" id="{0703F770-7A6D-44F4-B132-3958721223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>
            <a:extLst>
              <a:ext uri="{FF2B5EF4-FFF2-40B4-BE49-F238E27FC236}">
                <a16:creationId xmlns:a16="http://schemas.microsoft.com/office/drawing/2014/main" id="{80A657BA-96C7-35CE-02F0-E66550EE32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43025"/>
            <a:ext cx="5334000" cy="463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8A1F40AF-C904-BEC8-2CB8-AEB0CD9F732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343025"/>
            <a:ext cx="5334000" cy="463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>
            <a:extLst>
              <a:ext uri="{FF2B5EF4-FFF2-40B4-BE49-F238E27FC236}">
                <a16:creationId xmlns:a16="http://schemas.microsoft.com/office/drawing/2014/main" id="{99FBA812-B2EB-D609-AC49-039DE6C383F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17335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3603C911-6DAD-792E-14A6-10783CBE0136}"/>
              </a:ext>
            </a:extLst>
          </p:cNvPr>
          <p:cNvSpPr txBox="1"/>
          <p:nvPr/>
        </p:nvSpPr>
        <p:spPr>
          <a:xfrm>
            <a:off x="1895475" y="2000250"/>
            <a:ext cx="47805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IN-HOUSE DEVELOPMENT</a:t>
            </a: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24CAED41-BA90-0681-A6B8-6B72FCA14413}"/>
              </a:ext>
            </a:extLst>
          </p:cNvPr>
          <p:cNvSpPr txBox="1"/>
          <p:nvPr/>
        </p:nvSpPr>
        <p:spPr>
          <a:xfrm>
            <a:off x="962025" y="2782276"/>
            <a:ext cx="45529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standalone pilot LMS has already been developed entirely in-house by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Sh. Nitin Dua, CM (Prog.),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utilizing strategic inputs from the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Strategy Group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069BF164-C8E1-F8AC-D8F4-582E1BF4ABD0}"/>
              </a:ext>
            </a:extLst>
          </p:cNvPr>
          <p:cNvSpPr txBox="1"/>
          <p:nvPr/>
        </p:nvSpPr>
        <p:spPr>
          <a:xfrm>
            <a:off x="962025" y="3972394"/>
            <a:ext cx="4552950" cy="193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is currently populated with dummy data for testing and is fully prepared to be mounted on our secure Data Centre infrastructure.</a:t>
            </a: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800" b="0" i="0" u="none" strike="noStrike" cap="none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 algn="just">
              <a:lnSpc>
                <a:spcPct val="160000"/>
              </a:lnSpc>
            </a:pPr>
            <a:r>
              <a:rPr 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Trainings for all executives can be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hosted</a:t>
            </a:r>
            <a:r>
              <a:rPr 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tracked</a:t>
            </a:r>
            <a:r>
              <a:rPr 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seamlessly.</a:t>
            </a:r>
            <a:endParaRPr dirty="0"/>
          </a:p>
        </p:txBody>
      </p:sp>
      <p:pic>
        <p:nvPicPr>
          <p:cNvPr id="109" name="Google Shape;109;p15" descr="image.png">
            <a:extLst>
              <a:ext uri="{FF2B5EF4-FFF2-40B4-BE49-F238E27FC236}">
                <a16:creationId xmlns:a16="http://schemas.microsoft.com/office/drawing/2014/main" id="{5CBE866C-B050-BEFF-D08F-5E35540161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17335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2A1B2A5C-E29A-2F15-7917-0E9C5BE50BE5}"/>
              </a:ext>
            </a:extLst>
          </p:cNvPr>
          <p:cNvSpPr txBox="1"/>
          <p:nvPr/>
        </p:nvSpPr>
        <p:spPr>
          <a:xfrm>
            <a:off x="7640003" y="2000250"/>
            <a:ext cx="47805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SYSTEM CAPABILITIES</a:t>
            </a:r>
          </a:p>
        </p:txBody>
      </p: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8AF7507F-DEE2-1E51-DE51-73D1A65959C1}"/>
              </a:ext>
            </a:extLst>
          </p:cNvPr>
          <p:cNvSpPr txBox="1"/>
          <p:nvPr/>
        </p:nvSpPr>
        <p:spPr>
          <a:xfrm>
            <a:off x="6677025" y="2782276"/>
            <a:ext cx="45529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Content Engine: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Supports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SCORM-based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courses, alongside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standard video, PDF, HTML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image-based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content.</a:t>
            </a:r>
          </a:p>
        </p:txBody>
      </p:sp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A67424BE-414E-A3E7-4E40-AC484126162E}"/>
              </a:ext>
            </a:extLst>
          </p:cNvPr>
          <p:cNvSpPr txBox="1"/>
          <p:nvPr/>
        </p:nvSpPr>
        <p:spPr>
          <a:xfrm>
            <a:off x="6677025" y="3943349"/>
            <a:ext cx="455295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Assessment: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Built-in course authoring with section-level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quizzes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automatic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scoring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600" b="0" i="0" u="none" strike="noStrike" cap="none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 algn="just">
              <a:lnSpc>
                <a:spcPct val="160000"/>
              </a:lnSpc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Visibility: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Dual working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dashboards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explicitly designed for the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individual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learner and the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controlling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officer.</a:t>
            </a:r>
            <a:endParaRPr lang="en-US" sz="1350" b="0" i="0" u="none" strike="noStrike" cap="none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b="0" i="0" u="none" strike="noStrike" cap="none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78DE4911-70F1-60C3-C618-87C500D85AB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3475" y="1905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>
            <a:extLst>
              <a:ext uri="{FF2B5EF4-FFF2-40B4-BE49-F238E27FC236}">
                <a16:creationId xmlns:a16="http://schemas.microsoft.com/office/drawing/2014/main" id="{06B6CBAC-38C9-1CAA-6137-62368910D4F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00850" y="19050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77285581-70E1-832B-0815-F073D071AFAA}"/>
              </a:ext>
            </a:extLst>
          </p:cNvPr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000">
                <a:solidFill>
                  <a:srgbClr val="0F172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 dirty="0">
                <a:sym typeface="Plus Jakarta Sans ExtraBold"/>
              </a:rPr>
              <a:t>Pilot Status: Objectives Achieved</a:t>
            </a:r>
            <a:endParaRPr dirty="0"/>
          </a:p>
        </p:txBody>
      </p:sp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E1867D08-535B-44CC-1FB6-10261B4254D0}"/>
              </a:ext>
            </a:extLst>
          </p:cNvPr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280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91664" y="5125464"/>
            <a:ext cx="36671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Statistical Analytics</a:t>
            </a:r>
            <a:endParaRPr sz="1600"/>
          </a:p>
        </p:txBody>
      </p:sp>
      <p:sp>
        <p:nvSpPr>
          <p:cNvPr id="129" name="Google Shape;129;p16"/>
          <p:cNvSpPr txBox="1"/>
          <p:nvPr/>
        </p:nvSpPr>
        <p:spPr>
          <a:xfrm>
            <a:off x="591664" y="5458839"/>
            <a:ext cx="34925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Overall enrollment, audience targeting, and accumulated study time metrics.</a:t>
            </a:r>
            <a:endParaRPr sz="1600"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4369963" y="5125464"/>
            <a:ext cx="36671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&amp; SCORM Player</a:t>
            </a:r>
            <a:endParaRPr sz="1600"/>
          </a:p>
        </p:txBody>
      </p:sp>
      <p:sp>
        <p:nvSpPr>
          <p:cNvPr id="131" name="Google Shape;131;p16"/>
          <p:cNvSpPr txBox="1"/>
          <p:nvPr/>
        </p:nvSpPr>
        <p:spPr>
          <a:xfrm>
            <a:off x="4369963" y="5458839"/>
            <a:ext cx="34925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Individual learner view displaying course sections, activities, and integrated assessments.</a:t>
            </a:r>
            <a:endParaRPr sz="1600"/>
          </a:p>
        </p:txBody>
      </p:sp>
      <p:sp>
        <p:nvSpPr>
          <p:cNvPr id="132" name="Google Shape;132;p16"/>
          <p:cNvSpPr txBox="1"/>
          <p:nvPr/>
        </p:nvSpPr>
        <p:spPr>
          <a:xfrm>
            <a:off x="8148263" y="5125464"/>
            <a:ext cx="36671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Controlling Officer View</a:t>
            </a:r>
            <a:endParaRPr sz="1600"/>
          </a:p>
        </p:txBody>
      </p:sp>
      <p:sp>
        <p:nvSpPr>
          <p:cNvPr id="133" name="Google Shape;133;p16"/>
          <p:cNvSpPr txBox="1"/>
          <p:nvPr/>
        </p:nvSpPr>
        <p:spPr>
          <a:xfrm>
            <a:off x="8148263" y="5458839"/>
            <a:ext cx="34925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dedicated dashboard to monitor team compliance and individual direct report progress.</a:t>
            </a:r>
            <a:endParaRPr sz="1600"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000">
                <a:solidFill>
                  <a:srgbClr val="0F172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 dirty="0">
                <a:sym typeface="Plus Jakarta Sans ExtraBold"/>
              </a:rPr>
              <a:t>The Pilot System in Action</a:t>
            </a:r>
            <a:endParaRPr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1E74D2-CC06-5273-6D27-A22DD18B1C73}"/>
              </a:ext>
            </a:extLst>
          </p:cNvPr>
          <p:cNvSpPr/>
          <p:nvPr/>
        </p:nvSpPr>
        <p:spPr>
          <a:xfrm>
            <a:off x="482738" y="1320799"/>
            <a:ext cx="3639575" cy="5118101"/>
          </a:xfrm>
          <a:prstGeom prst="roundRect">
            <a:avLst>
              <a:gd name="adj" fmla="val 331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828E66-B753-266A-3BAF-683178EFBAD8}"/>
              </a:ext>
            </a:extLst>
          </p:cNvPr>
          <p:cNvSpPr/>
          <p:nvPr/>
        </p:nvSpPr>
        <p:spPr>
          <a:xfrm>
            <a:off x="4240491" y="1336674"/>
            <a:ext cx="3639575" cy="5118101"/>
          </a:xfrm>
          <a:prstGeom prst="roundRect">
            <a:avLst>
              <a:gd name="adj" fmla="val 331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64B755-11B9-02D9-3807-477409967EB4}"/>
              </a:ext>
            </a:extLst>
          </p:cNvPr>
          <p:cNvSpPr/>
          <p:nvPr/>
        </p:nvSpPr>
        <p:spPr>
          <a:xfrm>
            <a:off x="7960761" y="1336673"/>
            <a:ext cx="3639575" cy="5118101"/>
          </a:xfrm>
          <a:prstGeom prst="roundRect">
            <a:avLst>
              <a:gd name="adj" fmla="val 331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02DC18-8B78-D111-F971-FBA5D588F7B5}"/>
              </a:ext>
            </a:extLst>
          </p:cNvPr>
          <p:cNvSpPr/>
          <p:nvPr/>
        </p:nvSpPr>
        <p:spPr>
          <a:xfrm>
            <a:off x="377038" y="1219037"/>
            <a:ext cx="11356554" cy="3726019"/>
          </a:xfrm>
          <a:prstGeom prst="roundRect">
            <a:avLst>
              <a:gd name="adj" fmla="val 1372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7624" y="2289038"/>
            <a:ext cx="347349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571500" y="1111817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CA6E0D-9D0B-68DE-C745-46E576E99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8243" y="3441154"/>
            <a:ext cx="3491045" cy="1265210"/>
          </a:xfrm>
          <a:prstGeom prst="rect">
            <a:avLst/>
          </a:prstGeom>
          <a:ln w="3175" cap="sq">
            <a:solidFill>
              <a:schemeClr val="accent2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EF6CF4-9F71-7FA3-4218-E4C3331CD0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0491" y="1457333"/>
            <a:ext cx="3602066" cy="2784467"/>
          </a:xfrm>
          <a:prstGeom prst="rect">
            <a:avLst/>
          </a:prstGeom>
          <a:ln w="3175" cap="sq">
            <a:solidFill>
              <a:schemeClr val="accent2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CCFA809-3A75-CBBA-9E3D-F16753280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351" y="1454138"/>
            <a:ext cx="3462240" cy="1887298"/>
          </a:xfrm>
          <a:prstGeom prst="rect">
            <a:avLst/>
          </a:prstGeom>
          <a:ln w="3175" cap="sq">
            <a:solidFill>
              <a:schemeClr val="accent2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B612C9-59CB-386C-BB0D-6FE4228A7C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351" y="3341436"/>
            <a:ext cx="3471289" cy="1364928"/>
          </a:xfrm>
          <a:prstGeom prst="rect">
            <a:avLst/>
          </a:prstGeom>
          <a:ln w="3175" cap="sq">
            <a:solidFill>
              <a:schemeClr val="accent2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EFAFB7-6F07-359D-DC4E-FFF9D1D7D0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0420" y="1462633"/>
            <a:ext cx="1207906" cy="845201"/>
          </a:xfrm>
          <a:prstGeom prst="rect">
            <a:avLst/>
          </a:prstGeom>
        </p:spPr>
      </p:pic>
      <p:pic>
        <p:nvPicPr>
          <p:cNvPr id="3" name="Picture 2" descr="A screenshot of a chat&#10;&#10;Description automatically generated">
            <a:extLst>
              <a:ext uri="{FF2B5EF4-FFF2-40B4-BE49-F238E27FC236}">
                <a16:creationId xmlns:a16="http://schemas.microsoft.com/office/drawing/2014/main" id="{F67F54E8-1395-E834-328C-1895E65D82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8244" y="2123926"/>
            <a:ext cx="3491045" cy="1302296"/>
          </a:xfrm>
          <a:prstGeom prst="rect">
            <a:avLst/>
          </a:prstGeom>
          <a:ln w="3175" cap="sq">
            <a:solidFill>
              <a:schemeClr val="accent2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11049000" cy="4362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5" name="Google Shape;145;p17"/>
          <p:cNvGraphicFramePr/>
          <p:nvPr>
            <p:extLst>
              <p:ext uri="{D42A27DB-BD31-4B8C-83A1-F6EECF244321}">
                <p14:modId xmlns:p14="http://schemas.microsoft.com/office/powerpoint/2010/main" val="328898320"/>
              </p:ext>
            </p:extLst>
          </p:nvPr>
        </p:nvGraphicFramePr>
        <p:xfrm>
          <a:off x="581025" y="1619250"/>
          <a:ext cx="11029950" cy="4343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39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0F172A"/>
                          </a:solidFill>
                          <a:sym typeface="Inter"/>
                        </a:rPr>
                        <a:t>Member Name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sym typeface="Inter"/>
                        </a:rPr>
                        <a:t>Designation / Group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sym typeface="Inter"/>
                        </a:rPr>
                        <a:t>Role in Committee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Sh. Ajay Sahoo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HOI-ONGC Academy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 SemiBold"/>
                        </a:rPr>
                        <a:t>Team Lead (Coordination with all 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training imparting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 SemiBold"/>
                        </a:rPr>
                        <a:t> institutes)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Sh. Mahesh Kumar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CGM (HR), ICE-HR Team lead 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Team Lead for SAP Integration</a:t>
                      </a:r>
                      <a:endParaRPr sz="1200" b="0" i="0" u="none" strike="noStrike" cap="none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Sh. Nikhil Dahat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GM (IE), 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Strategy Group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Member</a:t>
                      </a:r>
                      <a:endParaRPr sz="1200" b="0" i="0" u="none" strike="noStrike" cap="none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 SemiBold"/>
                        </a:rPr>
                        <a:t>Sh. </a:t>
                      </a:r>
                      <a:r>
                        <a:rPr lang="en-IN" sz="1200" b="0" i="0" u="none" strike="noStrike" cap="none" dirty="0" err="1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Chunuram</a:t>
                      </a:r>
                      <a:r>
                        <a:rPr lang="en-IN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Hembram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GM (E&amp;T), 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Data Centre Grp - Corp. Infocom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Member</a:t>
                      </a:r>
                      <a:endParaRPr sz="1200" b="0" i="0" u="none" strike="noStrike" cap="none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 SemiBold"/>
                        </a:rPr>
                        <a:t>Sh. 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Satyajit Das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GM (Programming), 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Corporate Infocom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Member</a:t>
                      </a:r>
                      <a:endParaRPr sz="1200" b="0" i="0" u="none" strike="noStrike" cap="none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 SemiBold"/>
                        </a:rPr>
                        <a:t>Sh. </a:t>
                      </a:r>
                      <a:r>
                        <a:rPr lang="en-IN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Nitin Dua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CM (Programming), 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Database Group-Vadodara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Member (Developed LMS Pilot)</a:t>
                      </a:r>
                      <a:endParaRPr sz="1200" b="0" i="0" u="none" strike="noStrike" cap="none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 SemiBold"/>
                        </a:rPr>
                        <a:t>Sh. </a:t>
                      </a:r>
                      <a:r>
                        <a:rPr lang="en-IN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Anshul Tiwari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CE (P), 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Strategy Group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  <a:sym typeface="Inter"/>
                        </a:rPr>
                        <a:t>Member</a:t>
                      </a:r>
                      <a:endParaRPr sz="1200" b="0" i="0" u="none" strike="noStrike" cap="none" dirty="0">
                        <a:solidFill>
                          <a:srgbClr val="33415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6" name="Google Shape;146;p17"/>
          <p:cNvSpPr/>
          <p:nvPr/>
        </p:nvSpPr>
        <p:spPr>
          <a:xfrm>
            <a:off x="581025" y="2143125"/>
            <a:ext cx="239434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975371" y="2143125"/>
            <a:ext cx="389899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874371" y="2143125"/>
            <a:ext cx="473660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81025" y="2700337"/>
            <a:ext cx="2394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2975371" y="2700337"/>
            <a:ext cx="3898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874371" y="2700337"/>
            <a:ext cx="4736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81025" y="3243262"/>
            <a:ext cx="2394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975371" y="3243262"/>
            <a:ext cx="3898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874371" y="3243262"/>
            <a:ext cx="4736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81025" y="3786187"/>
            <a:ext cx="2394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975371" y="3786187"/>
            <a:ext cx="3898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874371" y="3786187"/>
            <a:ext cx="4736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81025" y="4329112"/>
            <a:ext cx="2394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975371" y="4329112"/>
            <a:ext cx="3898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874371" y="4329112"/>
            <a:ext cx="4736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81025" y="4872037"/>
            <a:ext cx="2394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2975371" y="4872037"/>
            <a:ext cx="3898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874371" y="4872037"/>
            <a:ext cx="4736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81025" y="5414962"/>
            <a:ext cx="2394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975371" y="5414962"/>
            <a:ext cx="3898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874371" y="5414962"/>
            <a:ext cx="4736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000">
                <a:solidFill>
                  <a:srgbClr val="0F172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 dirty="0">
                <a:sym typeface="Plus Jakarta Sans ExtraBold"/>
              </a:rPr>
              <a:t>Execution Committee Formation</a:t>
            </a:r>
            <a:endParaRPr dirty="0"/>
          </a:p>
        </p:txBody>
      </p:sp>
      <p:sp>
        <p:nvSpPr>
          <p:cNvPr id="168" name="Google Shape;168;p17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571500" y="1121271"/>
            <a:ext cx="10477500" cy="1017240"/>
          </a:xfrm>
          <a:prstGeom prst="roundRect">
            <a:avLst>
              <a:gd name="adj" fmla="val 1123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333500" y="1311771"/>
            <a:ext cx="9429750" cy="63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Validation &amp; Infrastructure Setup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Validate the developed pilot. Provide on-premises IT resources and infrastructure for securely mounting the LMS.</a:t>
            </a:r>
            <a:endParaRPr dirty="0"/>
          </a:p>
        </p:txBody>
      </p:sp>
      <p:sp>
        <p:nvSpPr>
          <p:cNvPr id="176" name="Google Shape;176;p18"/>
          <p:cNvSpPr/>
          <p:nvPr/>
        </p:nvSpPr>
        <p:spPr>
          <a:xfrm>
            <a:off x="571500" y="2485311"/>
            <a:ext cx="10477500" cy="865404"/>
          </a:xfrm>
          <a:prstGeom prst="roundRect">
            <a:avLst>
              <a:gd name="adj" fmla="val 884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333500" y="2519511"/>
            <a:ext cx="94297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Content Integration &amp; Functionality Check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Upload content provided by ONGCA and ATI-GOA. Ensure all functionalities—content delivery, assessments, and GAP analysis—run successfully.</a:t>
            </a:r>
            <a:endParaRPr dirty="0"/>
          </a:p>
        </p:txBody>
      </p:sp>
      <p:sp>
        <p:nvSpPr>
          <p:cNvPr id="178" name="Google Shape;178;p18"/>
          <p:cNvSpPr/>
          <p:nvPr/>
        </p:nvSpPr>
        <p:spPr>
          <a:xfrm>
            <a:off x="571500" y="3734841"/>
            <a:ext cx="10477500" cy="1080940"/>
          </a:xfrm>
          <a:prstGeom prst="roundRect">
            <a:avLst>
              <a:gd name="adj" fmla="val 884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333500" y="3925341"/>
            <a:ext cx="94297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Org-Wide Rollout &amp; Ongoing Maintenance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Lead the organization-wide rollout. Post-implementation, ONGC Academy is responsible for day-to-day maintenance and troubleshooting.</a:t>
            </a:r>
            <a:endParaRPr dirty="0"/>
          </a:p>
        </p:txBody>
      </p:sp>
      <p:sp>
        <p:nvSpPr>
          <p:cNvPr id="180" name="Google Shape;180;p18"/>
          <p:cNvSpPr/>
          <p:nvPr/>
        </p:nvSpPr>
        <p:spPr>
          <a:xfrm>
            <a:off x="571500" y="5216872"/>
            <a:ext cx="10477500" cy="1141363"/>
          </a:xfrm>
          <a:prstGeom prst="roundRect">
            <a:avLst>
              <a:gd name="adj" fmla="val 884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333500" y="5407372"/>
            <a:ext cx="94297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GT Training &amp; Mandatory Course Identification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ONGC Academy will upload GT training material in LMS format for E1-E5 executives and identify mandatory/desirable courses by interacting with SMEs.</a:t>
            </a:r>
            <a:endParaRPr dirty="0"/>
          </a:p>
        </p:txBody>
      </p:sp>
      <p:sp>
        <p:nvSpPr>
          <p:cNvPr id="182" name="Google Shape;182;p18"/>
          <p:cNvSpPr/>
          <p:nvPr/>
        </p:nvSpPr>
        <p:spPr>
          <a:xfrm>
            <a:off x="571500" y="2306786"/>
            <a:ext cx="1047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71500" y="3534816"/>
            <a:ext cx="1047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571500" y="5016847"/>
            <a:ext cx="1047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571500" y="6498877"/>
            <a:ext cx="1047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" y="135463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" y="256237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3968204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5450234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571500" y="423565"/>
            <a:ext cx="104775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000">
                <a:solidFill>
                  <a:srgbClr val="0F172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 dirty="0">
                <a:sym typeface="Plus Jakarta Sans ExtraBold"/>
              </a:rPr>
              <a:t>Committee Responsibilities &amp; Parallel Activities</a:t>
            </a:r>
            <a:endParaRPr dirty="0"/>
          </a:p>
        </p:txBody>
      </p:sp>
      <p:sp>
        <p:nvSpPr>
          <p:cNvPr id="191" name="Google Shape;191;p18"/>
          <p:cNvSpPr/>
          <p:nvPr/>
        </p:nvSpPr>
        <p:spPr>
          <a:xfrm>
            <a:off x="571500" y="96589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5334000" cy="4358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09725"/>
            <a:ext cx="5334000" cy="4358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0002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1895476" y="2177206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Content (E1 to E5)</a:t>
            </a:r>
            <a:endParaRPr dirty="0"/>
          </a:p>
        </p:txBody>
      </p:sp>
      <p:sp>
        <p:nvSpPr>
          <p:cNvPr id="201" name="Google Shape;201;p19"/>
          <p:cNvSpPr txBox="1"/>
          <p:nvPr/>
        </p:nvSpPr>
        <p:spPr>
          <a:xfrm>
            <a:off x="962025" y="2980956"/>
            <a:ext cx="45529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ONGCA and ATI GOA will interact with SMEs to finalize the list of technical trainings for each discipline.</a:t>
            </a:r>
            <a:endParaRPr dirty="0"/>
          </a:p>
        </p:txBody>
      </p:sp>
      <p:sp>
        <p:nvSpPr>
          <p:cNvPr id="202" name="Google Shape;202;p19"/>
          <p:cNvSpPr txBox="1"/>
          <p:nvPr/>
        </p:nvSpPr>
        <p:spPr>
          <a:xfrm>
            <a:off x="962025" y="4053780"/>
            <a:ext cx="45529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They will curate these targeted training courses alongside built-in assessments for E1 to E5 level executives and provide the complete content to the Execution Committee for upload.</a:t>
            </a:r>
            <a:endParaRPr dirty="0"/>
          </a:p>
        </p:txBody>
      </p:sp>
      <p:pic>
        <p:nvPicPr>
          <p:cNvPr id="203" name="Google Shape;20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0002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7586662" y="2185957"/>
            <a:ext cx="36099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59E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Behavioral Content (E6, L1-L3)</a:t>
            </a:r>
            <a:endParaRPr dirty="0"/>
          </a:p>
        </p:txBody>
      </p:sp>
      <p:sp>
        <p:nvSpPr>
          <p:cNvPr id="205" name="Google Shape;205;p19"/>
          <p:cNvSpPr txBox="1"/>
          <p:nvPr/>
        </p:nvSpPr>
        <p:spPr>
          <a:xfrm>
            <a:off x="6677025" y="2974729"/>
            <a:ext cx="45529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 senior roles, ONGCA and ATI GOA will curate specialized Managerial and Behavioral courses.</a:t>
            </a:r>
            <a:endParaRPr dirty="0"/>
          </a:p>
        </p:txBody>
      </p:sp>
      <p:sp>
        <p:nvSpPr>
          <p:cNvPr id="206" name="Google Shape;206;p19"/>
          <p:cNvSpPr txBox="1"/>
          <p:nvPr/>
        </p:nvSpPr>
        <p:spPr>
          <a:xfrm>
            <a:off x="6677025" y="4053780"/>
            <a:ext cx="45529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Crucially, these courses will feature assessments explicitly designed around the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six </a:t>
            </a:r>
            <a:r>
              <a:rPr lang="en-US" sz="1350" b="1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behavioural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competencies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currently assessed through ADCs. The Execution Committee will upload and integrate these with the institutes' collaboration.</a:t>
            </a:r>
            <a:endParaRPr dirty="0"/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3475" y="2171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72287" y="21717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000">
                <a:solidFill>
                  <a:srgbClr val="0F172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 dirty="0">
                <a:sym typeface="Plus Jakarta Sans ExtraBold"/>
              </a:rPr>
              <a:t>Parallel Activity: Targeted Content Strategy</a:t>
            </a:r>
            <a:endParaRPr dirty="0"/>
          </a:p>
        </p:txBody>
      </p:sp>
      <p:sp>
        <p:nvSpPr>
          <p:cNvPr id="210" name="Google Shape;210;p19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07942"/>
            <a:ext cx="2541240" cy="1832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7419" y="1657350"/>
            <a:ext cx="2541240" cy="1588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339" y="4007942"/>
            <a:ext cx="2541240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9259" y="1657350"/>
            <a:ext cx="2541240" cy="158859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571500" y="360789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819150" y="4255592"/>
            <a:ext cx="21482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Provide Content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19150" y="4617542"/>
            <a:ext cx="204594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ONGCA &amp; ATI GOA provide curated training content to the Execution Committee.</a:t>
            </a:r>
            <a:endParaRPr dirty="0"/>
          </a:p>
        </p:txBody>
      </p:sp>
      <p:sp>
        <p:nvSpPr>
          <p:cNvPr id="223" name="Google Shape;223;p20"/>
          <p:cNvSpPr txBox="1"/>
          <p:nvPr/>
        </p:nvSpPr>
        <p:spPr>
          <a:xfrm>
            <a:off x="3655069" y="1905000"/>
            <a:ext cx="21482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Upload &amp; Quiz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3655069" y="2266950"/>
            <a:ext cx="20459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Committee uploads content to the LMS. A quiz is attached to each section.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490989" y="4255592"/>
            <a:ext cx="21482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Complete &amp; Score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490989" y="4594771"/>
            <a:ext cx="20459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Learner completes the section and quiz. Score is recorded automatically.</a:t>
            </a:r>
            <a:endParaRPr dirty="0"/>
          </a:p>
        </p:txBody>
      </p:sp>
      <p:sp>
        <p:nvSpPr>
          <p:cNvPr id="227" name="Google Shape;227;p20"/>
          <p:cNvSpPr txBox="1"/>
          <p:nvPr/>
        </p:nvSpPr>
        <p:spPr>
          <a:xfrm>
            <a:off x="9326909" y="1905000"/>
            <a:ext cx="21482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Update &amp; Sync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326909" y="2266950"/>
            <a:ext cx="20459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Dashboards update for learner and controlling officer; data syncs to SAP.</a:t>
            </a:r>
            <a:endParaRPr dirty="0"/>
          </a:p>
        </p:txBody>
      </p:sp>
      <p:sp>
        <p:nvSpPr>
          <p:cNvPr id="229" name="Google Shape;229;p20"/>
          <p:cNvSpPr/>
          <p:nvPr/>
        </p:nvSpPr>
        <p:spPr>
          <a:xfrm>
            <a:off x="1727820" y="35126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563740" y="35126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7399659" y="35126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0235579" y="35126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000">
                <a:solidFill>
                  <a:srgbClr val="0F172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 dirty="0">
                <a:sym typeface="Plus Jakarta Sans ExtraBold"/>
              </a:rPr>
              <a:t>The Basic Operational Flow</a:t>
            </a:r>
            <a:endParaRPr dirty="0"/>
          </a:p>
        </p:txBody>
      </p:sp>
      <p:sp>
        <p:nvSpPr>
          <p:cNvPr id="234" name="Google Shape;234;p20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3492549" cy="3645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609725"/>
            <a:ext cx="3492549" cy="3645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609725"/>
            <a:ext cx="3492549" cy="3645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5175" y="1952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1460500" y="2070100"/>
            <a:ext cx="242030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Licensing Costs</a:t>
            </a:r>
            <a:endParaRPr dirty="0"/>
          </a:p>
        </p:txBody>
      </p:sp>
      <p:sp>
        <p:nvSpPr>
          <p:cNvPr id="245" name="Google Shape;245;p21"/>
          <p:cNvSpPr txBox="1"/>
          <p:nvPr/>
        </p:nvSpPr>
        <p:spPr>
          <a:xfrm>
            <a:off x="860425" y="2914650"/>
            <a:ext cx="290199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Unlike commercial purchased products, our custom solution incurs </a:t>
            </a:r>
            <a:r>
              <a:rPr lang="en-US" sz="135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no initial purchasing cost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zero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recurring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per-employee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licensing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fees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46" name="Google Shape;24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3474" y="1952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5175666" y="2070100"/>
            <a:ext cx="266033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Data Sovereignty</a:t>
            </a:r>
            <a:endParaRPr dirty="0"/>
          </a:p>
        </p:txBody>
      </p:sp>
      <p:sp>
        <p:nvSpPr>
          <p:cNvPr id="248" name="Google Shape;248;p21"/>
          <p:cNvSpPr txBox="1"/>
          <p:nvPr/>
        </p:nvSpPr>
        <p:spPr>
          <a:xfrm>
            <a:off x="4638724" y="2914650"/>
            <a:ext cx="2901999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maintain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full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control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over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organizational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knowledge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Everything stays secure inside our own corporate Data Centre, rather than a third-party cloud.</a:t>
            </a:r>
            <a:endParaRPr dirty="0"/>
          </a:p>
        </p:txBody>
      </p:sp>
      <p:pic>
        <p:nvPicPr>
          <p:cNvPr id="249" name="Google Shape;249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1774" y="1952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8988524" y="2076450"/>
            <a:ext cx="20802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Content Freedom</a:t>
            </a:r>
            <a:endParaRPr dirty="0"/>
          </a:p>
        </p:txBody>
      </p:sp>
      <p:sp>
        <p:nvSpPr>
          <p:cNvPr id="251" name="Google Shape;251;p21"/>
          <p:cNvSpPr txBox="1"/>
          <p:nvPr/>
        </p:nvSpPr>
        <p:spPr>
          <a:xfrm>
            <a:off x="8417024" y="2914650"/>
            <a:ext cx="290199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are completely free to support any content type or assessment format our institutes require, rather than being strictly limited to what a vendor permits.</a:t>
            </a:r>
            <a:endParaRPr/>
          </a:p>
        </p:txBody>
      </p:sp>
      <p:pic>
        <p:nvPicPr>
          <p:cNvPr id="252" name="Google Shape;252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6625" y="208597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95874" y="20859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17024" y="20859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Business Case: Why In-House?</a:t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3492549" cy="337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609725"/>
            <a:ext cx="3492549" cy="337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609725"/>
            <a:ext cx="3492549" cy="337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952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1687696" y="2076450"/>
            <a:ext cx="186023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Infrastructure</a:t>
            </a:r>
            <a:endParaRPr dirty="0"/>
          </a:p>
        </p:txBody>
      </p:sp>
      <p:sp>
        <p:nvSpPr>
          <p:cNvPr id="267" name="Google Shape;267;p22"/>
          <p:cNvSpPr txBox="1"/>
          <p:nvPr/>
        </p:nvSpPr>
        <p:spPr>
          <a:xfrm>
            <a:off x="866775" y="2876550"/>
            <a:ext cx="290199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modest server/VM allocation from the Data Centre to mount the pilot. One or two hosts with approximately 500 GB of storage will be sufficient initially.</a:t>
            </a:r>
            <a:endParaRPr dirty="0"/>
          </a:p>
        </p:txBody>
      </p:sp>
      <p:pic>
        <p:nvPicPr>
          <p:cNvPr id="268" name="Google Shape;26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1952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5330874" y="2095500"/>
            <a:ext cx="12601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Group</a:t>
            </a:r>
            <a:endParaRPr dirty="0"/>
          </a:p>
        </p:txBody>
      </p:sp>
      <p:sp>
        <p:nvSpPr>
          <p:cNvPr id="270" name="Google Shape;270;p22"/>
          <p:cNvSpPr txBox="1"/>
          <p:nvPr/>
        </p:nvSpPr>
        <p:spPr>
          <a:xfrm>
            <a:off x="4645074" y="2876550"/>
            <a:ext cx="290199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Access granted for approximately 10 cross-functional users for the next phase of validation testing, ensuring appropriate hardware compatibility.</a:t>
            </a:r>
            <a:endParaRPr/>
          </a:p>
        </p:txBody>
      </p:sp>
      <p:pic>
        <p:nvPicPr>
          <p:cNvPr id="271" name="Google Shape;27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1952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9166325" y="2076450"/>
            <a:ext cx="191023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Sample Content</a:t>
            </a:r>
            <a:endParaRPr dirty="0"/>
          </a:p>
        </p:txBody>
      </p:sp>
      <p:sp>
        <p:nvSpPr>
          <p:cNvPr id="273" name="Google Shape;273;p22"/>
          <p:cNvSpPr txBox="1"/>
          <p:nvPr/>
        </p:nvSpPr>
        <p:spPr>
          <a:xfrm>
            <a:off x="8423374" y="2876550"/>
            <a:ext cx="290199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short, controlled list of test content—such as a few freely available training videos and PDFs—to run through the system's logic and assessment flow.</a:t>
            </a:r>
            <a:endParaRPr/>
          </a:p>
        </p:txBody>
      </p:sp>
      <p:pic>
        <p:nvPicPr>
          <p:cNvPr id="274" name="Google Shape;274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0125" y="20859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40324" y="20859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37674" y="208597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000">
                <a:solidFill>
                  <a:srgbClr val="0F172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 dirty="0">
                <a:sym typeface="Plus Jakarta Sans ExtraBold"/>
              </a:rPr>
              <a:t>Basic Requirements for the Testing Stage</a:t>
            </a:r>
            <a:endParaRPr dirty="0"/>
          </a:p>
        </p:txBody>
      </p:sp>
      <p:sp>
        <p:nvSpPr>
          <p:cNvPr id="278" name="Google Shape;278;p22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000">
                <a:solidFill>
                  <a:srgbClr val="0F172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 dirty="0">
                <a:sym typeface="Plus Jakarta Sans ExtraBold"/>
              </a:rPr>
              <a:t>Staged Implementation Plan</a:t>
            </a:r>
            <a:endParaRPr dirty="0"/>
          </a:p>
        </p:txBody>
      </p:sp>
      <p:sp>
        <p:nvSpPr>
          <p:cNvPr id="302" name="Google Shape;302;p23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88446A-3438-FC6C-EFA5-1591227950B7}"/>
              </a:ext>
            </a:extLst>
          </p:cNvPr>
          <p:cNvSpPr/>
          <p:nvPr/>
        </p:nvSpPr>
        <p:spPr>
          <a:xfrm>
            <a:off x="444499" y="1450975"/>
            <a:ext cx="11290301" cy="4899025"/>
          </a:xfrm>
          <a:prstGeom prst="roundRect">
            <a:avLst>
              <a:gd name="adj" fmla="val 1372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85" name="Google Shape;285;p23"/>
          <p:cNvGraphicFramePr/>
          <p:nvPr>
            <p:extLst>
              <p:ext uri="{D42A27DB-BD31-4B8C-83A1-F6EECF244321}">
                <p14:modId xmlns:p14="http://schemas.microsoft.com/office/powerpoint/2010/main" val="1077223652"/>
              </p:ext>
            </p:extLst>
          </p:nvPr>
        </p:nvGraphicFramePr>
        <p:xfrm>
          <a:off x="590550" y="1566862"/>
          <a:ext cx="11029950" cy="466725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5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0F172A"/>
                          </a:solidFill>
                          <a:sym typeface="Inter"/>
                        </a:rPr>
                        <a:t>Stage</a:t>
                      </a:r>
                      <a:endParaRPr sz="16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0F172A"/>
                          </a:solidFill>
                          <a:sym typeface="Inter"/>
                        </a:rPr>
                        <a:t>Action &amp; Objective</a:t>
                      </a:r>
                      <a:endParaRPr sz="16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0F172A"/>
                          </a:solidFill>
                          <a:sym typeface="Inter"/>
                        </a:rPr>
                        <a:t>Target Timeline</a:t>
                      </a:r>
                      <a:endParaRPr sz="1600"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bg2">
                              <a:lumMod val="75000"/>
                            </a:schemeClr>
                          </a:solidFill>
                          <a:sym typeface="Inter"/>
                        </a:rPr>
                        <a:t>Stage 1</a:t>
                      </a:r>
                      <a:endParaRPr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334155"/>
                          </a:solidFill>
                          <a:sym typeface="Inter"/>
                        </a:rPr>
                        <a:t>Validate existing pilot on Data Centre hardware and testing with dummy data.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334155"/>
                          </a:solidFill>
                          <a:sym typeface="Inter"/>
                        </a:rPr>
                        <a:t>Within 15 days of resources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bg2">
                              <a:lumMod val="75000"/>
                            </a:schemeClr>
                          </a:solidFill>
                          <a:sym typeface="Inter"/>
                        </a:rPr>
                        <a:t>Stage 2</a:t>
                      </a:r>
                      <a:endParaRPr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334155"/>
                          </a:solidFill>
                          <a:sym typeface="Inter"/>
                        </a:rPr>
                        <a:t>Open system to ~10 users with real test content on better infrastructure. Validate dashboard, reporting, and manager views.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334155"/>
                          </a:solidFill>
                          <a:sym typeface="Inter"/>
                        </a:rPr>
                        <a:t>Post-Stage 1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bg2">
                              <a:lumMod val="75000"/>
                            </a:schemeClr>
                          </a:solidFill>
                          <a:sym typeface="Inter"/>
                        </a:rPr>
                        <a:t>Stage 4</a:t>
                      </a:r>
                      <a:endParaRPr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334155"/>
                          </a:solidFill>
                          <a:sym typeface="Inter"/>
                        </a:rPr>
                        <a:t>ONGCA and ATI Goa to curate comprehensive courses for uploading into the LMS.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334155"/>
                          </a:solidFill>
                          <a:sym typeface="Inter"/>
                        </a:rPr>
                        <a:t>Parallel Activity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bg2">
                              <a:lumMod val="75000"/>
                            </a:schemeClr>
                          </a:solidFill>
                          <a:sym typeface="Inter"/>
                        </a:rPr>
                        <a:t>Stage 5</a:t>
                      </a:r>
                      <a:endParaRPr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334155"/>
                          </a:solidFill>
                          <a:sym typeface="Inter"/>
                        </a:rPr>
                        <a:t>Scale the tested platform capacity to the full organization.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334155"/>
                          </a:solidFill>
                          <a:sym typeface="Inter"/>
                        </a:rPr>
                        <a:t>Strategic Go-Live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bg2">
                              <a:lumMod val="75000"/>
                            </a:schemeClr>
                          </a:solidFill>
                          <a:sym typeface="Inter"/>
                        </a:rPr>
                        <a:t>Stage 6</a:t>
                      </a:r>
                      <a:endParaRPr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334155"/>
                          </a:solidFill>
                          <a:sym typeface="Inter"/>
                        </a:rPr>
                        <a:t>Make the system fully device agnostic (accessible from laptop, tablet, and mobile).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334155"/>
                          </a:solidFill>
                          <a:sym typeface="Inter"/>
                        </a:rPr>
                        <a:t>Post-Launch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952500"/>
            <a:ext cx="88392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2257425" y="1748383"/>
            <a:ext cx="767715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seek </a:t>
            </a:r>
            <a:r>
              <a:rPr lang="en-US" sz="20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approval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test the prototype on a small scale, then scale it for organization-wide usage.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Responsibility: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ONGC Academy to monitor stability and once fully operational, maintain and upgrade as required.</a:t>
            </a:r>
            <a:endParaRPr sz="1600" dirty="0"/>
          </a:p>
        </p:txBody>
      </p:sp>
      <p:sp>
        <p:nvSpPr>
          <p:cNvPr id="311" name="Google Shape;311;p24"/>
          <p:cNvSpPr txBox="1"/>
          <p:nvPr/>
        </p:nvSpPr>
        <p:spPr>
          <a:xfrm>
            <a:off x="2257425" y="5109617"/>
            <a:ext cx="76771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chemeClr val="bg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"/>
              </a:rPr>
              <a:t>Thank You.</a:t>
            </a:r>
            <a:endParaRPr sz="3200" dirty="0">
              <a:solidFill>
                <a:schemeClr val="bg2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1127</Words>
  <Application>Microsoft Office PowerPoint</Application>
  <PresentationFormat>Widescreen</PresentationFormat>
  <Paragraphs>115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ADLaM Display</vt:lpstr>
      <vt:lpstr>Plus Jakarta Sans</vt:lpstr>
      <vt:lpstr>Arial</vt:lpstr>
      <vt:lpstr>Plus Jakarta Sans ExtraBold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NITIN DUA-95257</cp:lastModifiedBy>
  <cp:revision>57</cp:revision>
  <dcterms:modified xsi:type="dcterms:W3CDTF">2026-07-09T05:25:21Z</dcterms:modified>
</cp:coreProperties>
</file>