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Plus Jakarta Sans ExtraBold"/>
      <p:bold r:id="rId20"/>
      <p:boldItalic r:id="rId21"/>
    </p:embeddedFont>
    <p:embeddedFont>
      <p:font typeface="Inter SemiBold"/>
      <p:regular r:id="rId22"/>
      <p:bold r:id="rId23"/>
      <p:italic r:id="rId24"/>
      <p:boldItalic r:id="rId25"/>
    </p:embeddedFont>
    <p:embeddedFont>
      <p:font typeface="Inter"/>
      <p:regular r:id="rId26"/>
      <p:bold r:id="rId27"/>
      <p:italic r:id="rId28"/>
      <p:boldItalic r:id="rId29"/>
    </p:embeddedFont>
    <p:embeddedFont>
      <p:font typeface="Plus Jakarta Sans"/>
      <p:regular r:id="rId30"/>
      <p:bold r:id="rId31"/>
      <p:italic r:id="rId32"/>
      <p:boldItalic r:id="rId33"/>
    </p:embeddedFont>
    <p:embeddedFont>
      <p:font typeface="Plus Jakarta Sans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FA39C4-1B71-4E77-806F-45FF38CE3970}">
  <a:tblStyle styleId="{4FFA39C4-1B71-4E77-806F-45FF38CE397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ExtraBold-bold.fntdata"/><Relationship Id="rId22" Type="http://schemas.openxmlformats.org/officeDocument/2006/relationships/font" Target="fonts/InterSemiBold-regular.fntdata"/><Relationship Id="rId21" Type="http://schemas.openxmlformats.org/officeDocument/2006/relationships/font" Target="fonts/PlusJakartaSansExtraBold-boldItalic.fntdata"/><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Inter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bold.fntdata"/><Relationship Id="rId30" Type="http://schemas.openxmlformats.org/officeDocument/2006/relationships/font" Target="fonts/PlusJakartaSans-regular.fntdata"/><Relationship Id="rId11" Type="http://schemas.openxmlformats.org/officeDocument/2006/relationships/slide" Target="slides/slide5.xml"/><Relationship Id="rId33" Type="http://schemas.openxmlformats.org/officeDocument/2006/relationships/font" Target="fonts/PlusJakartaSans-boldItalic.fntdata"/><Relationship Id="rId10" Type="http://schemas.openxmlformats.org/officeDocument/2006/relationships/slide" Target="slides/slide4.xml"/><Relationship Id="rId32" Type="http://schemas.openxmlformats.org/officeDocument/2006/relationships/font" Target="fonts/PlusJakartaSans-italic.fntdata"/><Relationship Id="rId13" Type="http://schemas.openxmlformats.org/officeDocument/2006/relationships/slide" Target="slides/slide7.xml"/><Relationship Id="rId35" Type="http://schemas.openxmlformats.org/officeDocument/2006/relationships/font" Target="fonts/PlusJakartaSansSemiBold-bold.fntdata"/><Relationship Id="rId12" Type="http://schemas.openxmlformats.org/officeDocument/2006/relationships/slide" Target="slides/slide6.xml"/><Relationship Id="rId34" Type="http://schemas.openxmlformats.org/officeDocument/2006/relationships/font" Target="fonts/PlusJakartaSansSemiBold-regular.fntdata"/><Relationship Id="rId15" Type="http://schemas.openxmlformats.org/officeDocument/2006/relationships/slide" Target="slides/slide9.xml"/><Relationship Id="rId37" Type="http://schemas.openxmlformats.org/officeDocument/2006/relationships/font" Target="fonts/PlusJakartaSansSemiBold-boldItalic.fntdata"/><Relationship Id="rId14" Type="http://schemas.openxmlformats.org/officeDocument/2006/relationships/slide" Target="slides/slide8.xml"/><Relationship Id="rId36" Type="http://schemas.openxmlformats.org/officeDocument/2006/relationships/font" Target="fonts/PlusJakartaSansSemi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3.png"/><Relationship Id="rId11" Type="http://schemas.openxmlformats.org/officeDocument/2006/relationships/image" Target="../media/image5.png"/><Relationship Id="rId10" Type="http://schemas.openxmlformats.org/officeDocument/2006/relationships/image" Target="../media/image9.png"/><Relationship Id="rId12" Type="http://schemas.openxmlformats.org/officeDocument/2006/relationships/image" Target="../media/image1.png"/><Relationship Id="rId9" Type="http://schemas.openxmlformats.org/officeDocument/2006/relationships/image" Target="../media/image14.png"/><Relationship Id="rId5" Type="http://schemas.openxmlformats.org/officeDocument/2006/relationships/image" Target="../media/image21.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22.png"/><Relationship Id="rId9" Type="http://schemas.openxmlformats.org/officeDocument/2006/relationships/image" Target="../media/image16.png"/><Relationship Id="rId5" Type="http://schemas.openxmlformats.org/officeDocument/2006/relationships/image" Target="../media/image47.png"/><Relationship Id="rId6" Type="http://schemas.openxmlformats.org/officeDocument/2006/relationships/image" Target="../media/image24.png"/><Relationship Id="rId7" Type="http://schemas.openxmlformats.org/officeDocument/2006/relationships/image" Target="../media/image11.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48.png"/><Relationship Id="rId6" Type="http://schemas.openxmlformats.org/officeDocument/2006/relationships/image" Target="../media/image19.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40.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32.png"/><Relationship Id="rId11" Type="http://schemas.openxmlformats.org/officeDocument/2006/relationships/image" Target="../media/image26.png"/><Relationship Id="rId10" Type="http://schemas.openxmlformats.org/officeDocument/2006/relationships/image" Target="../media/image27.png"/><Relationship Id="rId12" Type="http://schemas.openxmlformats.org/officeDocument/2006/relationships/image" Target="../media/image25.png"/><Relationship Id="rId9"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36.png"/><Relationship Id="rId7" Type="http://schemas.openxmlformats.org/officeDocument/2006/relationships/image" Target="../media/image30.png"/><Relationship Id="rId8"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43.png"/><Relationship Id="rId9"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4.png"/><Relationship Id="rId8"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595437" y="2529929"/>
            <a:ext cx="9001125" cy="838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6000" u="none" cap="none" strike="noStrike">
                <a:solidFill>
                  <a:srgbClr val="F8FAFC"/>
                </a:solidFill>
                <a:latin typeface="Plus Jakarta Sans ExtraBold"/>
                <a:ea typeface="Plus Jakarta Sans ExtraBold"/>
                <a:cs typeface="Plus Jakarta Sans ExtraBold"/>
                <a:sym typeface="Plus Jakarta Sans ExtraBold"/>
              </a:rPr>
              <a:t>An In-House </a:t>
            </a:r>
            <a:r>
              <a:rPr b="0" i="0" lang="en-US" sz="6000" u="none" cap="none" strike="noStrike">
                <a:solidFill>
                  <a:srgbClr val="FBBF24"/>
                </a:solidFill>
                <a:latin typeface="Plus Jakarta Sans ExtraBold"/>
                <a:ea typeface="Plus Jakarta Sans ExtraBold"/>
                <a:cs typeface="Plus Jakarta Sans ExtraBold"/>
                <a:sym typeface="Plus Jakarta Sans ExtraBold"/>
              </a:rPr>
              <a:t>LMS</a:t>
            </a:r>
            <a:endParaRPr/>
          </a:p>
        </p:txBody>
      </p:sp>
      <p:sp>
        <p:nvSpPr>
          <p:cNvPr id="86" name="Google Shape;86;p13"/>
          <p:cNvSpPr txBox="1"/>
          <p:nvPr/>
        </p:nvSpPr>
        <p:spPr>
          <a:xfrm>
            <a:off x="1809750" y="3596729"/>
            <a:ext cx="85725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One platform to build, deliver and track training across the entire workforce — technical, behavioural and managerial — built and owned by us.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14"/>
          <p:cNvSpPr txBox="1"/>
          <p:nvPr/>
        </p:nvSpPr>
        <p:spPr>
          <a:xfrm>
            <a:off x="571500" y="571500"/>
            <a:ext cx="550068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The Unified Objective</a:t>
            </a:r>
            <a:endParaRPr/>
          </a:p>
        </p:txBody>
      </p:sp>
      <p:sp>
        <p:nvSpPr>
          <p:cNvPr id="93" name="Google Shape;93;p14"/>
          <p:cNvSpPr/>
          <p:nvPr/>
        </p:nvSpPr>
        <p:spPr>
          <a:xfrm>
            <a:off x="571500" y="1247775"/>
            <a:ext cx="52387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4" name="Google Shape;94;p14"/>
          <p:cNvPicPr preferRelativeResize="0"/>
          <p:nvPr/>
        </p:nvPicPr>
        <p:blipFill rotWithShape="1">
          <a:blip r:embed="rId4">
            <a:alphaModFix/>
          </a:blip>
          <a:srcRect b="0" l="0" r="0" t="0"/>
          <a:stretch/>
        </p:blipFill>
        <p:spPr>
          <a:xfrm>
            <a:off x="6381750" y="0"/>
            <a:ext cx="5810250" cy="6858000"/>
          </a:xfrm>
          <a:prstGeom prst="rect">
            <a:avLst/>
          </a:prstGeom>
          <a:noFill/>
          <a:ln>
            <a:noFill/>
          </a:ln>
        </p:spPr>
      </p:pic>
      <p:sp>
        <p:nvSpPr>
          <p:cNvPr id="95" name="Google Shape;95;p14"/>
          <p:cNvSpPr txBox="1"/>
          <p:nvPr/>
        </p:nvSpPr>
        <p:spPr>
          <a:xfrm>
            <a:off x="571500" y="2466975"/>
            <a:ext cx="362045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Plus Jakarta Sans SemiBold"/>
                <a:ea typeface="Plus Jakarta Sans SemiBold"/>
                <a:cs typeface="Plus Jakarta Sans SemiBold"/>
                <a:sym typeface="Plus Jakarta Sans SemiBold"/>
              </a:rPr>
              <a:t>A Single Home for Learning</a:t>
            </a:r>
            <a:endParaRPr/>
          </a:p>
        </p:txBody>
      </p:sp>
      <p:sp>
        <p:nvSpPr>
          <p:cNvPr id="96" name="Google Shape;96;p14"/>
          <p:cNvSpPr txBox="1"/>
          <p:nvPr/>
        </p:nvSpPr>
        <p:spPr>
          <a:xfrm>
            <a:off x="571500" y="295275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Today, corporate training records, content, and compliance data are scattered across multiple formats, drives, and disconnected vendors.</a:t>
            </a:r>
            <a:endParaRPr/>
          </a:p>
        </p:txBody>
      </p:sp>
      <p:sp>
        <p:nvSpPr>
          <p:cNvPr id="97" name="Google Shape;97;p14"/>
          <p:cNvSpPr txBox="1"/>
          <p:nvPr/>
        </p:nvSpPr>
        <p:spPr>
          <a:xfrm>
            <a:off x="571500" y="405765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A unified LMS transforms this into one governed, measurable capability. It ensures every employee can access necessary training seamlessly, whether at their desk or working remotely.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image.png" id="102" name="Google Shape;102;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 name="Google Shape;103;p15"/>
          <p:cNvSpPr txBox="1"/>
          <p:nvPr/>
        </p:nvSpPr>
        <p:spPr>
          <a:xfrm>
            <a:off x="571500" y="3090862"/>
            <a:ext cx="4838700"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0500" u="none" cap="none" strike="noStrike">
                <a:solidFill>
                  <a:srgbClr val="FBBF24"/>
                </a:solidFill>
                <a:latin typeface="Plus Jakarta Sans ExtraBold"/>
                <a:ea typeface="Plus Jakarta Sans ExtraBold"/>
                <a:cs typeface="Plus Jakarta Sans ExtraBold"/>
                <a:sym typeface="Plus Jakarta Sans ExtraBold"/>
              </a:rPr>
              <a:t>Ready</a:t>
            </a:r>
            <a:endParaRPr/>
          </a:p>
        </p:txBody>
      </p:sp>
      <p:sp>
        <p:nvSpPr>
          <p:cNvPr id="104" name="Google Shape;104;p15"/>
          <p:cNvSpPr txBox="1"/>
          <p:nvPr/>
        </p:nvSpPr>
        <p:spPr>
          <a:xfrm>
            <a:off x="571500" y="4519612"/>
            <a:ext cx="483870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Inter SemiBold"/>
                <a:ea typeface="Inter SemiBold"/>
                <a:cs typeface="Inter SemiBold"/>
                <a:sym typeface="Inter SemiBold"/>
              </a:rPr>
              <a:t>PHASE 1 PILOT</a:t>
            </a:r>
            <a:endParaRPr/>
          </a:p>
        </p:txBody>
      </p:sp>
      <p:sp>
        <p:nvSpPr>
          <p:cNvPr id="105" name="Google Shape;105;p15"/>
          <p:cNvSpPr txBox="1"/>
          <p:nvPr/>
        </p:nvSpPr>
        <p:spPr>
          <a:xfrm>
            <a:off x="6381750" y="2466975"/>
            <a:ext cx="550068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Plus Jakarta Sans SemiBold"/>
                <a:ea typeface="Plus Jakarta Sans SemiBold"/>
                <a:cs typeface="Plus Jakarta Sans SemiBold"/>
                <a:sym typeface="Plus Jakarta Sans SemiBold"/>
              </a:rPr>
              <a:t>Pilot Already Developed</a:t>
            </a:r>
            <a:endParaRPr/>
          </a:p>
        </p:txBody>
      </p:sp>
      <p:sp>
        <p:nvSpPr>
          <p:cNvPr id="106" name="Google Shape;106;p15"/>
          <p:cNvSpPr txBox="1"/>
          <p:nvPr/>
        </p:nvSpPr>
        <p:spPr>
          <a:xfrm>
            <a:off x="6381750" y="295275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A standalone pilot LMS has been built entirely in-house, formulated with comprehensive input from the Strategy Group.</a:t>
            </a:r>
            <a:endParaRPr/>
          </a:p>
        </p:txBody>
      </p:sp>
      <p:sp>
        <p:nvSpPr>
          <p:cNvPr id="107" name="Google Shape;107;p15"/>
          <p:cNvSpPr txBox="1"/>
          <p:nvPr/>
        </p:nvSpPr>
        <p:spPr>
          <a:xfrm>
            <a:off x="6381750" y="405765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It is currently populated with test data, featuring fully functional interactive dashboards for both individual learners and management. The system is ready to be mounted on our Data Centre infrastructure.</a:t>
            </a:r>
            <a:endParaRPr/>
          </a:p>
        </p:txBody>
      </p:sp>
      <p:sp>
        <p:nvSpPr>
          <p:cNvPr id="108" name="Google Shape;108;p1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Current Status</a:t>
            </a:r>
            <a:endParaRPr/>
          </a:p>
        </p:txBody>
      </p:sp>
      <p:sp>
        <p:nvSpPr>
          <p:cNvPr id="109" name="Google Shape;109;p15"/>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image.png" id="114" name="Google Shape;11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5" name="Google Shape;115;p16"/>
          <p:cNvPicPr preferRelativeResize="0"/>
          <p:nvPr/>
        </p:nvPicPr>
        <p:blipFill rotWithShape="1">
          <a:blip r:embed="rId4">
            <a:alphaModFix/>
          </a:blip>
          <a:srcRect b="0" l="0" r="0" t="0"/>
          <a:stretch/>
        </p:blipFill>
        <p:spPr>
          <a:xfrm>
            <a:off x="571500" y="1981200"/>
            <a:ext cx="3492549" cy="3971925"/>
          </a:xfrm>
          <a:prstGeom prst="rect">
            <a:avLst/>
          </a:prstGeom>
          <a:noFill/>
          <a:ln>
            <a:noFill/>
          </a:ln>
        </p:spPr>
      </p:pic>
      <p:pic>
        <p:nvPicPr>
          <p:cNvPr descr="image.png" id="116" name="Google Shape;116;p16"/>
          <p:cNvPicPr preferRelativeResize="0"/>
          <p:nvPr/>
        </p:nvPicPr>
        <p:blipFill rotWithShape="1">
          <a:blip r:embed="rId5">
            <a:alphaModFix/>
          </a:blip>
          <a:srcRect b="0" l="0" r="0" t="0"/>
          <a:stretch/>
        </p:blipFill>
        <p:spPr>
          <a:xfrm>
            <a:off x="4349799" y="1981200"/>
            <a:ext cx="3492549" cy="3971925"/>
          </a:xfrm>
          <a:prstGeom prst="rect">
            <a:avLst/>
          </a:prstGeom>
          <a:noFill/>
          <a:ln>
            <a:noFill/>
          </a:ln>
        </p:spPr>
      </p:pic>
      <p:pic>
        <p:nvPicPr>
          <p:cNvPr descr="image.png" id="117" name="Google Shape;117;p16"/>
          <p:cNvPicPr preferRelativeResize="0"/>
          <p:nvPr/>
        </p:nvPicPr>
        <p:blipFill rotWithShape="1">
          <a:blip r:embed="rId6">
            <a:alphaModFix/>
          </a:blip>
          <a:srcRect b="0" l="0" r="0" t="0"/>
          <a:stretch/>
        </p:blipFill>
        <p:spPr>
          <a:xfrm>
            <a:off x="8128099" y="1981200"/>
            <a:ext cx="3492549" cy="3971925"/>
          </a:xfrm>
          <a:prstGeom prst="rect">
            <a:avLst/>
          </a:prstGeom>
          <a:noFill/>
          <a:ln>
            <a:noFill/>
          </a:ln>
        </p:spPr>
      </p:pic>
      <p:pic>
        <p:nvPicPr>
          <p:cNvPr descr="image.png" id="118" name="Google Shape;118;p16"/>
          <p:cNvPicPr preferRelativeResize="0"/>
          <p:nvPr/>
        </p:nvPicPr>
        <p:blipFill rotWithShape="1">
          <a:blip r:embed="rId7">
            <a:alphaModFix/>
          </a:blip>
          <a:srcRect b="0" l="0" r="0" t="0"/>
          <a:stretch/>
        </p:blipFill>
        <p:spPr>
          <a:xfrm>
            <a:off x="866775" y="2371725"/>
            <a:ext cx="762000" cy="762000"/>
          </a:xfrm>
          <a:prstGeom prst="rect">
            <a:avLst/>
          </a:prstGeom>
          <a:noFill/>
          <a:ln>
            <a:noFill/>
          </a:ln>
        </p:spPr>
      </p:pic>
      <p:sp>
        <p:nvSpPr>
          <p:cNvPr id="119" name="Google Shape;119;p16"/>
          <p:cNvSpPr txBox="1"/>
          <p:nvPr/>
        </p:nvSpPr>
        <p:spPr>
          <a:xfrm>
            <a:off x="866775" y="3362325"/>
            <a:ext cx="2390298"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1F5F9"/>
                </a:solidFill>
                <a:latin typeface="Plus Jakarta Sans SemiBold"/>
                <a:ea typeface="Plus Jakarta Sans SemiBold"/>
                <a:cs typeface="Plus Jakarta Sans SemiBold"/>
                <a:sym typeface="Plus Jakarta Sans SemiBold"/>
              </a:rPr>
              <a:t>Course Authoring</a:t>
            </a:r>
            <a:endParaRPr/>
          </a:p>
        </p:txBody>
      </p:sp>
      <p:sp>
        <p:nvSpPr>
          <p:cNvPr id="120" name="Google Shape;120;p16"/>
          <p:cNvSpPr txBox="1"/>
          <p:nvPr/>
        </p:nvSpPr>
        <p:spPr>
          <a:xfrm>
            <a:off x="866775" y="3848100"/>
            <a:ext cx="290199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Empowers authorized departments to intuitively construct multi-section courses with attached quizzes and automated scoring logic.</a:t>
            </a:r>
            <a:endParaRPr/>
          </a:p>
        </p:txBody>
      </p:sp>
      <p:pic>
        <p:nvPicPr>
          <p:cNvPr descr="image.png" id="121" name="Google Shape;121;p16"/>
          <p:cNvPicPr preferRelativeResize="0"/>
          <p:nvPr/>
        </p:nvPicPr>
        <p:blipFill rotWithShape="1">
          <a:blip r:embed="rId8">
            <a:alphaModFix/>
          </a:blip>
          <a:srcRect b="0" l="0" r="0" t="0"/>
          <a:stretch/>
        </p:blipFill>
        <p:spPr>
          <a:xfrm>
            <a:off x="4645074" y="2371725"/>
            <a:ext cx="762000" cy="762000"/>
          </a:xfrm>
          <a:prstGeom prst="rect">
            <a:avLst/>
          </a:prstGeom>
          <a:noFill/>
          <a:ln>
            <a:noFill/>
          </a:ln>
        </p:spPr>
      </p:pic>
      <p:sp>
        <p:nvSpPr>
          <p:cNvPr id="122" name="Google Shape;122;p16"/>
          <p:cNvSpPr txBox="1"/>
          <p:nvPr/>
        </p:nvSpPr>
        <p:spPr>
          <a:xfrm>
            <a:off x="4645074" y="3362325"/>
            <a:ext cx="2670333"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1F5F9"/>
                </a:solidFill>
                <a:latin typeface="Plus Jakarta Sans SemiBold"/>
                <a:ea typeface="Plus Jakarta Sans SemiBold"/>
                <a:cs typeface="Plus Jakarta Sans SemiBold"/>
                <a:sym typeface="Plus Jakarta Sans SemiBold"/>
              </a:rPr>
              <a:t>Rich Media Support</a:t>
            </a:r>
            <a:endParaRPr/>
          </a:p>
        </p:txBody>
      </p:sp>
      <p:sp>
        <p:nvSpPr>
          <p:cNvPr id="123" name="Google Shape;123;p16"/>
          <p:cNvSpPr txBox="1"/>
          <p:nvPr/>
        </p:nvSpPr>
        <p:spPr>
          <a:xfrm>
            <a:off x="4645074" y="3848100"/>
            <a:ext cx="290199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Natively handles industry-standard SCORM modules alongside video, PDF, HTML, and rich image-based internal content.</a:t>
            </a:r>
            <a:endParaRPr/>
          </a:p>
        </p:txBody>
      </p:sp>
      <p:pic>
        <p:nvPicPr>
          <p:cNvPr descr="image.png" id="124" name="Google Shape;124;p16"/>
          <p:cNvPicPr preferRelativeResize="0"/>
          <p:nvPr/>
        </p:nvPicPr>
        <p:blipFill rotWithShape="1">
          <a:blip r:embed="rId9">
            <a:alphaModFix/>
          </a:blip>
          <a:srcRect b="0" l="0" r="0" t="0"/>
          <a:stretch/>
        </p:blipFill>
        <p:spPr>
          <a:xfrm>
            <a:off x="8423374" y="2371725"/>
            <a:ext cx="762000" cy="762000"/>
          </a:xfrm>
          <a:prstGeom prst="rect">
            <a:avLst/>
          </a:prstGeom>
          <a:noFill/>
          <a:ln>
            <a:noFill/>
          </a:ln>
        </p:spPr>
      </p:pic>
      <p:sp>
        <p:nvSpPr>
          <p:cNvPr id="125" name="Google Shape;125;p16"/>
          <p:cNvSpPr txBox="1"/>
          <p:nvPr/>
        </p:nvSpPr>
        <p:spPr>
          <a:xfrm>
            <a:off x="8423374" y="3362325"/>
            <a:ext cx="222027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1F5F9"/>
                </a:solidFill>
                <a:latin typeface="Plus Jakarta Sans SemiBold"/>
                <a:ea typeface="Plus Jakarta Sans SemiBold"/>
                <a:cs typeface="Plus Jakarta Sans SemiBold"/>
                <a:sym typeface="Plus Jakarta Sans SemiBold"/>
              </a:rPr>
              <a:t>Device Agnostic</a:t>
            </a:r>
            <a:endParaRPr/>
          </a:p>
        </p:txBody>
      </p:sp>
      <p:sp>
        <p:nvSpPr>
          <p:cNvPr id="126" name="Google Shape;126;p16"/>
          <p:cNvSpPr txBox="1"/>
          <p:nvPr/>
        </p:nvSpPr>
        <p:spPr>
          <a:xfrm>
            <a:off x="8423374" y="3848100"/>
            <a:ext cx="290199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Engineered for eventual deployment across laptops, tablets, and mobile devices, ensuring learning is accessible anywhere.</a:t>
            </a:r>
            <a:endParaRPr/>
          </a:p>
        </p:txBody>
      </p:sp>
      <p:pic>
        <p:nvPicPr>
          <p:cNvPr descr="image.png" id="127" name="Google Shape;127;p16"/>
          <p:cNvPicPr preferRelativeResize="0"/>
          <p:nvPr/>
        </p:nvPicPr>
        <p:blipFill rotWithShape="1">
          <a:blip r:embed="rId10">
            <a:alphaModFix/>
          </a:blip>
          <a:srcRect b="0" l="0" r="0" t="0"/>
          <a:stretch/>
        </p:blipFill>
        <p:spPr>
          <a:xfrm>
            <a:off x="1057275" y="2562225"/>
            <a:ext cx="381000" cy="381000"/>
          </a:xfrm>
          <a:prstGeom prst="rect">
            <a:avLst/>
          </a:prstGeom>
          <a:noFill/>
          <a:ln>
            <a:noFill/>
          </a:ln>
        </p:spPr>
      </p:pic>
      <p:pic>
        <p:nvPicPr>
          <p:cNvPr descr="image.png" id="128" name="Google Shape;128;p16"/>
          <p:cNvPicPr preferRelativeResize="0"/>
          <p:nvPr/>
        </p:nvPicPr>
        <p:blipFill rotWithShape="1">
          <a:blip r:embed="rId11">
            <a:alphaModFix/>
          </a:blip>
          <a:srcRect b="0" l="0" r="0" t="0"/>
          <a:stretch/>
        </p:blipFill>
        <p:spPr>
          <a:xfrm>
            <a:off x="4787949" y="2562225"/>
            <a:ext cx="476250" cy="381000"/>
          </a:xfrm>
          <a:prstGeom prst="rect">
            <a:avLst/>
          </a:prstGeom>
          <a:noFill/>
          <a:ln>
            <a:noFill/>
          </a:ln>
        </p:spPr>
      </p:pic>
      <p:pic>
        <p:nvPicPr>
          <p:cNvPr descr="image.png" id="129" name="Google Shape;129;p16"/>
          <p:cNvPicPr preferRelativeResize="0"/>
          <p:nvPr/>
        </p:nvPicPr>
        <p:blipFill rotWithShape="1">
          <a:blip r:embed="rId12">
            <a:alphaModFix/>
          </a:blip>
          <a:srcRect b="0" l="0" r="0" t="0"/>
          <a:stretch/>
        </p:blipFill>
        <p:spPr>
          <a:xfrm>
            <a:off x="8661499" y="2562225"/>
            <a:ext cx="285750" cy="381000"/>
          </a:xfrm>
          <a:prstGeom prst="rect">
            <a:avLst/>
          </a:prstGeom>
          <a:noFill/>
          <a:ln>
            <a:noFill/>
          </a:ln>
        </p:spPr>
      </p:pic>
      <p:sp>
        <p:nvSpPr>
          <p:cNvPr id="130" name="Google Shape;130;p1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Key Platform Features</a:t>
            </a:r>
            <a:endParaRPr/>
          </a:p>
        </p:txBody>
      </p:sp>
      <p:sp>
        <p:nvSpPr>
          <p:cNvPr id="131" name="Google Shape;131;p16"/>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image.png" id="136" name="Google Shape;13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7" name="Google Shape;137;p17"/>
          <p:cNvPicPr preferRelativeResize="0"/>
          <p:nvPr/>
        </p:nvPicPr>
        <p:blipFill rotWithShape="1">
          <a:blip r:embed="rId4">
            <a:alphaModFix/>
          </a:blip>
          <a:srcRect b="0" l="0" r="0" t="0"/>
          <a:stretch/>
        </p:blipFill>
        <p:spPr>
          <a:xfrm>
            <a:off x="6381750" y="2062162"/>
            <a:ext cx="5238750" cy="3810000"/>
          </a:xfrm>
          <a:prstGeom prst="rect">
            <a:avLst/>
          </a:prstGeom>
          <a:noFill/>
          <a:ln>
            <a:noFill/>
          </a:ln>
        </p:spPr>
      </p:pic>
      <p:sp>
        <p:nvSpPr>
          <p:cNvPr id="138" name="Google Shape;138;p17"/>
          <p:cNvSpPr txBox="1"/>
          <p:nvPr/>
        </p:nvSpPr>
        <p:spPr>
          <a:xfrm>
            <a:off x="857250" y="230981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Inter"/>
                <a:ea typeface="Inter"/>
                <a:cs typeface="Inter"/>
                <a:sym typeface="Inter"/>
              </a:rPr>
              <a:t>Individual Dashboard:</a:t>
            </a:r>
            <a:r>
              <a:rPr b="0" i="0" lang="en-US" sz="1500" u="none" cap="none" strike="noStrike">
                <a:solidFill>
                  <a:srgbClr val="94A3B8"/>
                </a:solidFill>
                <a:latin typeface="Inter"/>
                <a:ea typeface="Inter"/>
                <a:cs typeface="Inter"/>
                <a:sym typeface="Inter"/>
              </a:rPr>
              <a:t> Grants employees instant visibility into completed courses, current progress, and precise assessment scores.</a:t>
            </a:r>
            <a:endParaRPr/>
          </a:p>
        </p:txBody>
      </p:sp>
      <p:sp>
        <p:nvSpPr>
          <p:cNvPr id="139" name="Google Shape;139;p17"/>
          <p:cNvSpPr txBox="1"/>
          <p:nvPr/>
        </p:nvSpPr>
        <p:spPr>
          <a:xfrm>
            <a:off x="857250" y="341471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Inter"/>
                <a:ea typeface="Inter"/>
                <a:cs typeface="Inter"/>
                <a:sym typeface="Inter"/>
              </a:rPr>
              <a:t>Controlling Officer View:</a:t>
            </a:r>
            <a:r>
              <a:rPr b="0" i="0" lang="en-US" sz="1500" u="none" cap="none" strike="noStrike">
                <a:solidFill>
                  <a:srgbClr val="94A3B8"/>
                </a:solidFill>
                <a:latin typeface="Inter"/>
                <a:ea typeface="Inter"/>
                <a:cs typeface="Inter"/>
                <a:sym typeface="Inter"/>
              </a:rPr>
              <a:t> Delivers at-a-glance team-wide tracking, instantly highlighting compliance status and overdue learning.</a:t>
            </a:r>
            <a:endParaRPr/>
          </a:p>
        </p:txBody>
      </p:sp>
      <p:sp>
        <p:nvSpPr>
          <p:cNvPr id="140" name="Google Shape;140;p17"/>
          <p:cNvSpPr txBox="1"/>
          <p:nvPr/>
        </p:nvSpPr>
        <p:spPr>
          <a:xfrm>
            <a:off x="857250" y="451961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Inter"/>
                <a:ea typeface="Inter"/>
                <a:cs typeface="Inter"/>
                <a:sym typeface="Inter"/>
              </a:rPr>
              <a:t>Line-of-Sight Transparency:</a:t>
            </a:r>
            <a:r>
              <a:rPr b="0" i="0" lang="en-US" sz="1500" u="none" cap="none" strike="noStrike">
                <a:solidFill>
                  <a:srgbClr val="94A3B8"/>
                </a:solidFill>
                <a:latin typeface="Inter"/>
                <a:ea typeface="Inter"/>
                <a:cs typeface="Inter"/>
                <a:sym typeface="Inter"/>
              </a:rPr>
              <a:t> Training progress rolls upward automatically, allowing leadership to view aggregated organizational capability.</a:t>
            </a:r>
            <a:endParaRPr/>
          </a:p>
        </p:txBody>
      </p:sp>
      <p:pic>
        <p:nvPicPr>
          <p:cNvPr descr="image.png" id="141" name="Google Shape;141;p17"/>
          <p:cNvPicPr preferRelativeResize="0"/>
          <p:nvPr/>
        </p:nvPicPr>
        <p:blipFill rotWithShape="1">
          <a:blip r:embed="rId5">
            <a:alphaModFix/>
          </a:blip>
          <a:srcRect b="0" l="0" r="0" t="0"/>
          <a:stretch/>
        </p:blipFill>
        <p:spPr>
          <a:xfrm>
            <a:off x="6391275" y="2071687"/>
            <a:ext cx="5219700" cy="3790950"/>
          </a:xfrm>
          <a:prstGeom prst="rect">
            <a:avLst/>
          </a:prstGeom>
          <a:noFill/>
          <a:ln>
            <a:noFill/>
          </a:ln>
        </p:spPr>
      </p:pic>
      <p:sp>
        <p:nvSpPr>
          <p:cNvPr id="142" name="Google Shape;142;p17"/>
          <p:cNvSpPr txBox="1"/>
          <p:nvPr/>
        </p:nvSpPr>
        <p:spPr>
          <a:xfrm>
            <a:off x="571500" y="2214562"/>
            <a:ext cx="1619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2250" u="none" cap="none" strike="noStrike">
                <a:solidFill>
                  <a:srgbClr val="FBBF24"/>
                </a:solidFill>
                <a:latin typeface="Inter"/>
                <a:ea typeface="Inter"/>
                <a:cs typeface="Inter"/>
                <a:sym typeface="Inter"/>
              </a:rPr>
              <a:t>•</a:t>
            </a:r>
            <a:endParaRPr/>
          </a:p>
        </p:txBody>
      </p:sp>
      <p:sp>
        <p:nvSpPr>
          <p:cNvPr id="143" name="Google Shape;143;p17"/>
          <p:cNvSpPr txBox="1"/>
          <p:nvPr/>
        </p:nvSpPr>
        <p:spPr>
          <a:xfrm>
            <a:off x="571500" y="3319462"/>
            <a:ext cx="1619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2250" u="none" cap="none" strike="noStrike">
                <a:solidFill>
                  <a:srgbClr val="FBBF24"/>
                </a:solidFill>
                <a:latin typeface="Inter"/>
                <a:ea typeface="Inter"/>
                <a:cs typeface="Inter"/>
                <a:sym typeface="Inter"/>
              </a:rPr>
              <a:t>•</a:t>
            </a:r>
            <a:endParaRPr/>
          </a:p>
        </p:txBody>
      </p:sp>
      <p:sp>
        <p:nvSpPr>
          <p:cNvPr id="144" name="Google Shape;144;p17"/>
          <p:cNvSpPr txBox="1"/>
          <p:nvPr/>
        </p:nvSpPr>
        <p:spPr>
          <a:xfrm>
            <a:off x="571500" y="4424362"/>
            <a:ext cx="1619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2250" u="none" cap="none" strike="noStrike">
                <a:solidFill>
                  <a:srgbClr val="FBBF24"/>
                </a:solidFill>
                <a:latin typeface="Inter"/>
                <a:ea typeface="Inter"/>
                <a:cs typeface="Inter"/>
                <a:sym typeface="Inter"/>
              </a:rPr>
              <a:t>•</a:t>
            </a:r>
            <a:endParaRPr/>
          </a:p>
        </p:txBody>
      </p:sp>
      <p:sp>
        <p:nvSpPr>
          <p:cNvPr id="145" name="Google Shape;145;p1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Near Real-Time Analytics</a:t>
            </a:r>
            <a:endParaRPr/>
          </a:p>
        </p:txBody>
      </p:sp>
      <p:sp>
        <p:nvSpPr>
          <p:cNvPr id="146" name="Google Shape;146;p17"/>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image.png" id="151" name="Google Shape;15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8"/>
          <p:cNvPicPr preferRelativeResize="0"/>
          <p:nvPr/>
        </p:nvPicPr>
        <p:blipFill rotWithShape="1">
          <a:blip r:embed="rId4">
            <a:alphaModFix/>
          </a:blip>
          <a:srcRect b="0" l="0" r="0" t="0"/>
          <a:stretch/>
        </p:blipFill>
        <p:spPr>
          <a:xfrm>
            <a:off x="571500" y="1638300"/>
            <a:ext cx="5238750" cy="4657725"/>
          </a:xfrm>
          <a:prstGeom prst="rect">
            <a:avLst/>
          </a:prstGeom>
          <a:noFill/>
          <a:ln>
            <a:noFill/>
          </a:ln>
        </p:spPr>
      </p:pic>
      <p:pic>
        <p:nvPicPr>
          <p:cNvPr descr="image.png" id="153" name="Google Shape;153;p18"/>
          <p:cNvPicPr preferRelativeResize="0"/>
          <p:nvPr/>
        </p:nvPicPr>
        <p:blipFill rotWithShape="1">
          <a:blip r:embed="rId5">
            <a:alphaModFix/>
          </a:blip>
          <a:srcRect b="0" l="0" r="0" t="0"/>
          <a:stretch/>
        </p:blipFill>
        <p:spPr>
          <a:xfrm>
            <a:off x="6381750" y="1638300"/>
            <a:ext cx="5238750" cy="4657725"/>
          </a:xfrm>
          <a:prstGeom prst="rect">
            <a:avLst/>
          </a:prstGeom>
          <a:noFill/>
          <a:ln>
            <a:noFill/>
          </a:ln>
        </p:spPr>
      </p:pic>
      <p:pic>
        <p:nvPicPr>
          <p:cNvPr descr="image.png" id="154" name="Google Shape;154;p18"/>
          <p:cNvPicPr preferRelativeResize="0"/>
          <p:nvPr/>
        </p:nvPicPr>
        <p:blipFill rotWithShape="1">
          <a:blip r:embed="rId6">
            <a:alphaModFix/>
          </a:blip>
          <a:srcRect b="0" l="0" r="0" t="0"/>
          <a:stretch/>
        </p:blipFill>
        <p:spPr>
          <a:xfrm>
            <a:off x="962025" y="2124075"/>
            <a:ext cx="952500" cy="952500"/>
          </a:xfrm>
          <a:prstGeom prst="rect">
            <a:avLst/>
          </a:prstGeom>
          <a:noFill/>
          <a:ln>
            <a:noFill/>
          </a:ln>
        </p:spPr>
      </p:pic>
      <p:sp>
        <p:nvSpPr>
          <p:cNvPr id="155" name="Google Shape;155;p18"/>
          <p:cNvSpPr txBox="1"/>
          <p:nvPr/>
        </p:nvSpPr>
        <p:spPr>
          <a:xfrm>
            <a:off x="962025" y="3305175"/>
            <a:ext cx="254031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EF4444"/>
                </a:solidFill>
                <a:latin typeface="Plus Jakarta Sans SemiBold"/>
                <a:ea typeface="Plus Jakarta Sans SemiBold"/>
                <a:cs typeface="Plus Jakarta Sans SemiBold"/>
                <a:sym typeface="Plus Jakarta Sans SemiBold"/>
              </a:rPr>
              <a:t>Buy Off-the-Shelf</a:t>
            </a:r>
            <a:endParaRPr/>
          </a:p>
        </p:txBody>
      </p:sp>
      <p:sp>
        <p:nvSpPr>
          <p:cNvPr id="156" name="Google Shape;156;p18"/>
          <p:cNvSpPr txBox="1"/>
          <p:nvPr/>
        </p:nvSpPr>
        <p:spPr>
          <a:xfrm>
            <a:off x="962025" y="3790950"/>
            <a:ext cx="44577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Purchased platforms trap organizations in recurring, per-user license fees that penalize headcount growth. Core learner data is pushed to third-party clouds, and custom integrations (like deep SAP syncing) often require expensive, slow vendor change requests.</a:t>
            </a:r>
            <a:endParaRPr/>
          </a:p>
        </p:txBody>
      </p:sp>
      <p:pic>
        <p:nvPicPr>
          <p:cNvPr descr="image.png" id="157" name="Google Shape;157;p18"/>
          <p:cNvPicPr preferRelativeResize="0"/>
          <p:nvPr/>
        </p:nvPicPr>
        <p:blipFill rotWithShape="1">
          <a:blip r:embed="rId7">
            <a:alphaModFix/>
          </a:blip>
          <a:srcRect b="0" l="0" r="0" t="0"/>
          <a:stretch/>
        </p:blipFill>
        <p:spPr>
          <a:xfrm>
            <a:off x="6772275" y="2124075"/>
            <a:ext cx="952500" cy="952500"/>
          </a:xfrm>
          <a:prstGeom prst="rect">
            <a:avLst/>
          </a:prstGeom>
          <a:noFill/>
          <a:ln>
            <a:noFill/>
          </a:ln>
        </p:spPr>
      </p:pic>
      <p:sp>
        <p:nvSpPr>
          <p:cNvPr id="158" name="Google Shape;158;p18"/>
          <p:cNvSpPr txBox="1"/>
          <p:nvPr/>
        </p:nvSpPr>
        <p:spPr>
          <a:xfrm>
            <a:off x="6772275" y="3305175"/>
            <a:ext cx="2030253"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0B981"/>
                </a:solidFill>
                <a:latin typeface="Plus Jakarta Sans SemiBold"/>
                <a:ea typeface="Plus Jakarta Sans SemiBold"/>
                <a:cs typeface="Plus Jakarta Sans SemiBold"/>
                <a:sym typeface="Plus Jakarta Sans SemiBold"/>
              </a:rPr>
              <a:t>Build In-House</a:t>
            </a:r>
            <a:endParaRPr/>
          </a:p>
        </p:txBody>
      </p:sp>
      <p:sp>
        <p:nvSpPr>
          <p:cNvPr id="159" name="Google Shape;159;p18"/>
          <p:cNvSpPr txBox="1"/>
          <p:nvPr/>
        </p:nvSpPr>
        <p:spPr>
          <a:xfrm>
            <a:off x="6772275" y="3790950"/>
            <a:ext cx="44577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A custom solution means zero recurring licensing costs. It ensures absolute data sovereignty entirely within our Data Centre. We retain the architectural freedom to ingest custom content types and build seamless workflows that fit our exact processes.</a:t>
            </a:r>
            <a:endParaRPr/>
          </a:p>
        </p:txBody>
      </p:sp>
      <p:pic>
        <p:nvPicPr>
          <p:cNvPr descr="image.png" id="160" name="Google Shape;160;p18"/>
          <p:cNvPicPr preferRelativeResize="0"/>
          <p:nvPr/>
        </p:nvPicPr>
        <p:blipFill rotWithShape="1">
          <a:blip r:embed="rId8">
            <a:alphaModFix/>
          </a:blip>
          <a:srcRect b="0" l="0" r="0" t="0"/>
          <a:stretch/>
        </p:blipFill>
        <p:spPr>
          <a:xfrm>
            <a:off x="1171575" y="2362200"/>
            <a:ext cx="533400" cy="476250"/>
          </a:xfrm>
          <a:prstGeom prst="rect">
            <a:avLst/>
          </a:prstGeom>
          <a:noFill/>
          <a:ln>
            <a:noFill/>
          </a:ln>
        </p:spPr>
      </p:pic>
      <p:pic>
        <p:nvPicPr>
          <p:cNvPr descr="image.png" id="161" name="Google Shape;161;p18"/>
          <p:cNvPicPr preferRelativeResize="0"/>
          <p:nvPr/>
        </p:nvPicPr>
        <p:blipFill rotWithShape="1">
          <a:blip r:embed="rId9">
            <a:alphaModFix/>
          </a:blip>
          <a:srcRect b="0" l="0" r="0" t="0"/>
          <a:stretch/>
        </p:blipFill>
        <p:spPr>
          <a:xfrm>
            <a:off x="6981825" y="2362200"/>
            <a:ext cx="533400" cy="476250"/>
          </a:xfrm>
          <a:prstGeom prst="rect">
            <a:avLst/>
          </a:prstGeom>
          <a:noFill/>
          <a:ln>
            <a:noFill/>
          </a:ln>
        </p:spPr>
      </p:pic>
      <p:sp>
        <p:nvSpPr>
          <p:cNvPr id="162" name="Google Shape;162;p18"/>
          <p:cNvSpPr txBox="1"/>
          <p:nvPr/>
        </p:nvSpPr>
        <p:spPr>
          <a:xfrm>
            <a:off x="571500" y="561975"/>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The Business Case: Build vs. Buy</a:t>
            </a:r>
            <a:endParaRPr/>
          </a:p>
        </p:txBody>
      </p:sp>
      <p:sp>
        <p:nvSpPr>
          <p:cNvPr id="163" name="Google Shape;163;p18"/>
          <p:cNvSpPr/>
          <p:nvPr/>
        </p:nvSpPr>
        <p:spPr>
          <a:xfrm>
            <a:off x="571500" y="1238250"/>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image.png" id="168" name="Google Shape;168;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9" name="Google Shape;169;p19"/>
          <p:cNvSpPr/>
          <p:nvPr/>
        </p:nvSpPr>
        <p:spPr>
          <a:xfrm>
            <a:off x="1333500" y="172640"/>
            <a:ext cx="9525000" cy="1611510"/>
          </a:xfrm>
          <a:prstGeom prst="roundRect">
            <a:avLst>
              <a:gd fmla="val 7092"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9"/>
          <p:cNvSpPr txBox="1"/>
          <p:nvPr/>
        </p:nvSpPr>
        <p:spPr>
          <a:xfrm>
            <a:off x="2095500" y="458390"/>
            <a:ext cx="8477250" cy="104001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8FAFC"/>
                </a:solidFill>
                <a:latin typeface="Inter"/>
                <a:ea typeface="Inter"/>
                <a:cs typeface="Inter"/>
                <a:sym typeface="Inter"/>
              </a:rPr>
              <a:t>Validation &amp; Infrastructure</a:t>
            </a:r>
            <a:r>
              <a:rPr b="0" i="0" lang="en-US" sz="1500" u="none" cap="none" strike="noStrike">
                <a:solidFill>
                  <a:srgbClr val="94A3B8"/>
                </a:solidFill>
                <a:latin typeface="Inter"/>
                <a:ea typeface="Inter"/>
                <a:cs typeface="Inter"/>
                <a:sym typeface="Inter"/>
              </a:rPr>
              <a:t> The Data Centre Group will provide robust on-premise hardware, while the Strategy Group formally validates the pilot's performance.</a:t>
            </a:r>
            <a:endParaRPr/>
          </a:p>
        </p:txBody>
      </p:sp>
      <p:sp>
        <p:nvSpPr>
          <p:cNvPr id="171" name="Google Shape;171;p19"/>
          <p:cNvSpPr/>
          <p:nvPr/>
        </p:nvSpPr>
        <p:spPr>
          <a:xfrm>
            <a:off x="1333500" y="2069901"/>
            <a:ext cx="9525000" cy="1611510"/>
          </a:xfrm>
          <a:prstGeom prst="roundRect">
            <a:avLst>
              <a:gd fmla="val 7092"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txBox="1"/>
          <p:nvPr/>
        </p:nvSpPr>
        <p:spPr>
          <a:xfrm>
            <a:off x="2095500" y="2355651"/>
            <a:ext cx="8477250" cy="104001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8FAFC"/>
                </a:solidFill>
                <a:latin typeface="Inter"/>
                <a:ea typeface="Inter"/>
                <a:cs typeface="Inter"/>
                <a:sym typeface="Inter"/>
              </a:rPr>
              <a:t>Content Curation</a:t>
            </a:r>
            <a:r>
              <a:rPr b="0" i="0" lang="en-US" sz="1500" u="none" cap="none" strike="noStrike">
                <a:solidFill>
                  <a:srgbClr val="94A3B8"/>
                </a:solidFill>
                <a:latin typeface="Inter"/>
                <a:ea typeface="Inter"/>
                <a:cs typeface="Inter"/>
                <a:sym typeface="Inter"/>
              </a:rPr>
              <a:t> COMPANY Academy and ATI-GOA will collaborate with SMEs to structure and curate targeted technical and behavioural training.</a:t>
            </a:r>
            <a:endParaRPr/>
          </a:p>
        </p:txBody>
      </p:sp>
      <p:sp>
        <p:nvSpPr>
          <p:cNvPr id="173" name="Google Shape;173;p19"/>
          <p:cNvSpPr/>
          <p:nvPr/>
        </p:nvSpPr>
        <p:spPr>
          <a:xfrm>
            <a:off x="1333500" y="3967162"/>
            <a:ext cx="9525000" cy="1611510"/>
          </a:xfrm>
          <a:prstGeom prst="roundRect">
            <a:avLst>
              <a:gd fmla="val 7092"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9"/>
          <p:cNvSpPr txBox="1"/>
          <p:nvPr/>
        </p:nvSpPr>
        <p:spPr>
          <a:xfrm>
            <a:off x="2095500" y="4252912"/>
            <a:ext cx="8477250" cy="104001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8FAFC"/>
                </a:solidFill>
                <a:latin typeface="Inter"/>
                <a:ea typeface="Inter"/>
                <a:cs typeface="Inter"/>
                <a:sym typeface="Inter"/>
              </a:rPr>
              <a:t>Implementation &amp; Support</a:t>
            </a:r>
            <a:r>
              <a:rPr b="0" i="0" lang="en-US" sz="1500" u="none" cap="none" strike="noStrike">
                <a:solidFill>
                  <a:srgbClr val="94A3B8"/>
                </a:solidFill>
                <a:latin typeface="Inter"/>
                <a:ea typeface="Inter"/>
                <a:cs typeface="Inter"/>
                <a:sym typeface="Inter"/>
              </a:rPr>
              <a:t> The Execution Committee will oversee the rollout and upload content, handing off day-to-day operations to the Academy.</a:t>
            </a:r>
            <a:endParaRPr/>
          </a:p>
        </p:txBody>
      </p:sp>
      <p:sp>
        <p:nvSpPr>
          <p:cNvPr id="175" name="Google Shape;175;p19"/>
          <p:cNvSpPr/>
          <p:nvPr/>
        </p:nvSpPr>
        <p:spPr>
          <a:xfrm>
            <a:off x="1333500" y="5864423"/>
            <a:ext cx="9525000" cy="1611510"/>
          </a:xfrm>
          <a:prstGeom prst="roundRect">
            <a:avLst>
              <a:gd fmla="val 7092"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9"/>
          <p:cNvSpPr txBox="1"/>
          <p:nvPr/>
        </p:nvSpPr>
        <p:spPr>
          <a:xfrm>
            <a:off x="2095500" y="6150173"/>
            <a:ext cx="8477250" cy="707826"/>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8FAFC"/>
                </a:solidFill>
                <a:latin typeface="Inter"/>
                <a:ea typeface="Inter"/>
                <a:cs typeface="Inter"/>
                <a:sym typeface="Inter"/>
              </a:rPr>
              <a:t>Enterprise System Sync</a:t>
            </a:r>
            <a:r>
              <a:rPr b="0" i="0" lang="en-US" sz="1500" u="none" cap="none" strike="noStrike">
                <a:solidFill>
                  <a:srgbClr val="94A3B8"/>
                </a:solidFill>
                <a:latin typeface="Inter"/>
                <a:ea typeface="Inter"/>
                <a:cs typeface="Inter"/>
                <a:sym typeface="Inter"/>
              </a:rPr>
              <a:t> The designated HR Team Lead will ensure seamless data integration, allowing assessment scores to automatically flow into SAP.</a:t>
            </a:r>
            <a:endParaRPr/>
          </a:p>
        </p:txBody>
      </p:sp>
      <p:sp>
        <p:nvSpPr>
          <p:cNvPr id="177" name="Google Shape;177;p19"/>
          <p:cNvSpPr/>
          <p:nvPr/>
        </p:nvSpPr>
        <p:spPr>
          <a:xfrm>
            <a:off x="1333500" y="1774626"/>
            <a:ext cx="952500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9"/>
          <p:cNvSpPr/>
          <p:nvPr/>
        </p:nvSpPr>
        <p:spPr>
          <a:xfrm>
            <a:off x="1333500" y="3671887"/>
            <a:ext cx="952500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9"/>
          <p:cNvSpPr/>
          <p:nvPr/>
        </p:nvSpPr>
        <p:spPr>
          <a:xfrm>
            <a:off x="1333500" y="5569148"/>
            <a:ext cx="952500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9"/>
          <p:cNvSpPr/>
          <p:nvPr/>
        </p:nvSpPr>
        <p:spPr>
          <a:xfrm>
            <a:off x="1333500" y="7466409"/>
            <a:ext cx="952500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1" name="Google Shape;181;p19"/>
          <p:cNvPicPr preferRelativeResize="0"/>
          <p:nvPr/>
        </p:nvPicPr>
        <p:blipFill rotWithShape="1">
          <a:blip r:embed="rId4">
            <a:alphaModFix/>
          </a:blip>
          <a:srcRect b="0" l="0" r="0" t="0"/>
          <a:stretch/>
        </p:blipFill>
        <p:spPr>
          <a:xfrm>
            <a:off x="1581150" y="482203"/>
            <a:ext cx="266700" cy="276225"/>
          </a:xfrm>
          <a:prstGeom prst="rect">
            <a:avLst/>
          </a:prstGeom>
          <a:noFill/>
          <a:ln>
            <a:noFill/>
          </a:ln>
        </p:spPr>
      </p:pic>
      <p:pic>
        <p:nvPicPr>
          <p:cNvPr descr="image.png" id="182" name="Google Shape;182;p19"/>
          <p:cNvPicPr preferRelativeResize="0"/>
          <p:nvPr/>
        </p:nvPicPr>
        <p:blipFill rotWithShape="1">
          <a:blip r:embed="rId5">
            <a:alphaModFix/>
          </a:blip>
          <a:srcRect b="0" l="0" r="0" t="0"/>
          <a:stretch/>
        </p:blipFill>
        <p:spPr>
          <a:xfrm>
            <a:off x="1581150" y="2379464"/>
            <a:ext cx="304800" cy="276225"/>
          </a:xfrm>
          <a:prstGeom prst="rect">
            <a:avLst/>
          </a:prstGeom>
          <a:noFill/>
          <a:ln>
            <a:noFill/>
          </a:ln>
        </p:spPr>
      </p:pic>
      <p:pic>
        <p:nvPicPr>
          <p:cNvPr descr="image.png" id="183" name="Google Shape;183;p19"/>
          <p:cNvPicPr preferRelativeResize="0"/>
          <p:nvPr/>
        </p:nvPicPr>
        <p:blipFill rotWithShape="1">
          <a:blip r:embed="rId6">
            <a:alphaModFix/>
          </a:blip>
          <a:srcRect b="0" l="0" r="0" t="0"/>
          <a:stretch/>
        </p:blipFill>
        <p:spPr>
          <a:xfrm>
            <a:off x="1581150" y="4276725"/>
            <a:ext cx="333375" cy="276225"/>
          </a:xfrm>
          <a:prstGeom prst="rect">
            <a:avLst/>
          </a:prstGeom>
          <a:noFill/>
          <a:ln>
            <a:noFill/>
          </a:ln>
        </p:spPr>
      </p:pic>
      <p:pic>
        <p:nvPicPr>
          <p:cNvPr descr="image.png" id="184" name="Google Shape;184;p19"/>
          <p:cNvPicPr preferRelativeResize="0"/>
          <p:nvPr/>
        </p:nvPicPr>
        <p:blipFill rotWithShape="1">
          <a:blip r:embed="rId7">
            <a:alphaModFix/>
          </a:blip>
          <a:srcRect b="0" l="0" r="0" t="0"/>
          <a:stretch/>
        </p:blipFill>
        <p:spPr>
          <a:xfrm>
            <a:off x="1581150" y="6173985"/>
            <a:ext cx="238125" cy="276225"/>
          </a:xfrm>
          <a:prstGeom prst="rect">
            <a:avLst/>
          </a:prstGeom>
          <a:noFill/>
          <a:ln>
            <a:noFill/>
          </a:ln>
        </p:spPr>
      </p:pic>
      <p:sp>
        <p:nvSpPr>
          <p:cNvPr id="185" name="Google Shape;185;p19"/>
          <p:cNvSpPr txBox="1"/>
          <p:nvPr/>
        </p:nvSpPr>
        <p:spPr>
          <a:xfrm>
            <a:off x="571500" y="-903684"/>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Cross-Functional Execution Force</a:t>
            </a:r>
            <a:endParaRPr/>
          </a:p>
        </p:txBody>
      </p:sp>
      <p:sp>
        <p:nvSpPr>
          <p:cNvPr id="186" name="Google Shape;186;p19"/>
          <p:cNvSpPr/>
          <p:nvPr/>
        </p:nvSpPr>
        <p:spPr>
          <a:xfrm>
            <a:off x="571500" y="-227409"/>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image.png" id="191" name="Google Shape;19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2" name="Google Shape;192;p20"/>
          <p:cNvPicPr preferRelativeResize="0"/>
          <p:nvPr/>
        </p:nvPicPr>
        <p:blipFill rotWithShape="1">
          <a:blip r:embed="rId4">
            <a:alphaModFix/>
          </a:blip>
          <a:srcRect b="0" l="0" r="0" t="0"/>
          <a:stretch/>
        </p:blipFill>
        <p:spPr>
          <a:xfrm>
            <a:off x="571500" y="4538662"/>
            <a:ext cx="2541240" cy="1588591"/>
          </a:xfrm>
          <a:prstGeom prst="rect">
            <a:avLst/>
          </a:prstGeom>
          <a:noFill/>
          <a:ln>
            <a:noFill/>
          </a:ln>
        </p:spPr>
      </p:pic>
      <p:pic>
        <p:nvPicPr>
          <p:cNvPr descr="image.png" id="193" name="Google Shape;193;p20"/>
          <p:cNvPicPr preferRelativeResize="0"/>
          <p:nvPr/>
        </p:nvPicPr>
        <p:blipFill rotWithShape="1">
          <a:blip r:embed="rId5">
            <a:alphaModFix/>
          </a:blip>
          <a:srcRect b="0" l="0" r="0" t="0"/>
          <a:stretch/>
        </p:blipFill>
        <p:spPr>
          <a:xfrm>
            <a:off x="3407419" y="2188071"/>
            <a:ext cx="2541240" cy="1588591"/>
          </a:xfrm>
          <a:prstGeom prst="rect">
            <a:avLst/>
          </a:prstGeom>
          <a:noFill/>
          <a:ln>
            <a:noFill/>
          </a:ln>
        </p:spPr>
      </p:pic>
      <p:pic>
        <p:nvPicPr>
          <p:cNvPr descr="image.png" id="194" name="Google Shape;194;p20"/>
          <p:cNvPicPr preferRelativeResize="0"/>
          <p:nvPr/>
        </p:nvPicPr>
        <p:blipFill rotWithShape="1">
          <a:blip r:embed="rId6">
            <a:alphaModFix/>
          </a:blip>
          <a:srcRect b="0" l="0" r="0" t="0"/>
          <a:stretch/>
        </p:blipFill>
        <p:spPr>
          <a:xfrm>
            <a:off x="6243339" y="4538662"/>
            <a:ext cx="2541240" cy="1588591"/>
          </a:xfrm>
          <a:prstGeom prst="rect">
            <a:avLst/>
          </a:prstGeom>
          <a:noFill/>
          <a:ln>
            <a:noFill/>
          </a:ln>
        </p:spPr>
      </p:pic>
      <p:pic>
        <p:nvPicPr>
          <p:cNvPr descr="image.png" id="195" name="Google Shape;195;p20"/>
          <p:cNvPicPr preferRelativeResize="0"/>
          <p:nvPr/>
        </p:nvPicPr>
        <p:blipFill rotWithShape="1">
          <a:blip r:embed="rId7">
            <a:alphaModFix/>
          </a:blip>
          <a:srcRect b="0" l="0" r="0" t="0"/>
          <a:stretch/>
        </p:blipFill>
        <p:spPr>
          <a:xfrm>
            <a:off x="9079259" y="1944290"/>
            <a:ext cx="2541240" cy="1832371"/>
          </a:xfrm>
          <a:prstGeom prst="rect">
            <a:avLst/>
          </a:prstGeom>
          <a:noFill/>
          <a:ln>
            <a:noFill/>
          </a:ln>
        </p:spPr>
      </p:pic>
      <p:sp>
        <p:nvSpPr>
          <p:cNvPr id="196" name="Google Shape;196;p20"/>
          <p:cNvSpPr/>
          <p:nvPr/>
        </p:nvSpPr>
        <p:spPr>
          <a:xfrm>
            <a:off x="571500" y="4138612"/>
            <a:ext cx="11049000" cy="381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0"/>
          <p:cNvSpPr txBox="1"/>
          <p:nvPr/>
        </p:nvSpPr>
        <p:spPr>
          <a:xfrm>
            <a:off x="819150" y="4786312"/>
            <a:ext cx="214823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BBF24"/>
                </a:solidFill>
                <a:latin typeface="Plus Jakarta Sans SemiBold"/>
                <a:ea typeface="Plus Jakarta Sans SemiBold"/>
                <a:cs typeface="Plus Jakarta Sans SemiBold"/>
                <a:sym typeface="Plus Jakarta Sans SemiBold"/>
              </a:rPr>
              <a:t>1. Curate</a:t>
            </a:r>
            <a:endParaRPr/>
          </a:p>
        </p:txBody>
      </p:sp>
      <p:sp>
        <p:nvSpPr>
          <p:cNvPr id="198" name="Google Shape;198;p20"/>
          <p:cNvSpPr txBox="1"/>
          <p:nvPr/>
        </p:nvSpPr>
        <p:spPr>
          <a:xfrm>
            <a:off x="819150" y="5148262"/>
            <a:ext cx="204594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Training institutes identify, validate, and provide core learning content.</a:t>
            </a:r>
            <a:endParaRPr/>
          </a:p>
        </p:txBody>
      </p:sp>
      <p:sp>
        <p:nvSpPr>
          <p:cNvPr id="199" name="Google Shape;199;p20"/>
          <p:cNvSpPr txBox="1"/>
          <p:nvPr/>
        </p:nvSpPr>
        <p:spPr>
          <a:xfrm>
            <a:off x="3655069" y="2435721"/>
            <a:ext cx="214823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BBF24"/>
                </a:solidFill>
                <a:latin typeface="Plus Jakarta Sans SemiBold"/>
                <a:ea typeface="Plus Jakarta Sans SemiBold"/>
                <a:cs typeface="Plus Jakarta Sans SemiBold"/>
                <a:sym typeface="Plus Jakarta Sans SemiBold"/>
              </a:rPr>
              <a:t>2. Upload</a:t>
            </a:r>
            <a:endParaRPr/>
          </a:p>
        </p:txBody>
      </p:sp>
      <p:sp>
        <p:nvSpPr>
          <p:cNvPr id="200" name="Google Shape;200;p20"/>
          <p:cNvSpPr txBox="1"/>
          <p:nvPr/>
        </p:nvSpPr>
        <p:spPr>
          <a:xfrm>
            <a:off x="3655069" y="2797671"/>
            <a:ext cx="204594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The Execution Committee mounts content and assigns mandatory assessments.</a:t>
            </a:r>
            <a:endParaRPr/>
          </a:p>
        </p:txBody>
      </p:sp>
      <p:sp>
        <p:nvSpPr>
          <p:cNvPr id="201" name="Google Shape;201;p20"/>
          <p:cNvSpPr txBox="1"/>
          <p:nvPr/>
        </p:nvSpPr>
        <p:spPr>
          <a:xfrm>
            <a:off x="6490989" y="4786312"/>
            <a:ext cx="214823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BBF24"/>
                </a:solidFill>
                <a:latin typeface="Plus Jakarta Sans SemiBold"/>
                <a:ea typeface="Plus Jakarta Sans SemiBold"/>
                <a:cs typeface="Plus Jakarta Sans SemiBold"/>
                <a:sym typeface="Plus Jakarta Sans SemiBold"/>
              </a:rPr>
              <a:t>3. Complete</a:t>
            </a:r>
            <a:endParaRPr/>
          </a:p>
        </p:txBody>
      </p:sp>
      <p:sp>
        <p:nvSpPr>
          <p:cNvPr id="202" name="Google Shape;202;p20"/>
          <p:cNvSpPr txBox="1"/>
          <p:nvPr/>
        </p:nvSpPr>
        <p:spPr>
          <a:xfrm>
            <a:off x="6490989" y="5148262"/>
            <a:ext cx="204594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Learners engage with the modules and must pass the built-in quizzes to proceed.</a:t>
            </a:r>
            <a:endParaRPr/>
          </a:p>
        </p:txBody>
      </p:sp>
      <p:sp>
        <p:nvSpPr>
          <p:cNvPr id="203" name="Google Shape;203;p20"/>
          <p:cNvSpPr txBox="1"/>
          <p:nvPr/>
        </p:nvSpPr>
        <p:spPr>
          <a:xfrm>
            <a:off x="9326909" y="2191940"/>
            <a:ext cx="214823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BBF24"/>
                </a:solidFill>
                <a:latin typeface="Plus Jakarta Sans SemiBold"/>
                <a:ea typeface="Plus Jakarta Sans SemiBold"/>
                <a:cs typeface="Plus Jakarta Sans SemiBold"/>
                <a:sym typeface="Plus Jakarta Sans SemiBold"/>
              </a:rPr>
              <a:t>4. Sync</a:t>
            </a:r>
            <a:endParaRPr/>
          </a:p>
        </p:txBody>
      </p:sp>
      <p:sp>
        <p:nvSpPr>
          <p:cNvPr id="204" name="Google Shape;204;p20"/>
          <p:cNvSpPr txBox="1"/>
          <p:nvPr/>
        </p:nvSpPr>
        <p:spPr>
          <a:xfrm>
            <a:off x="9326909" y="2553890"/>
            <a:ext cx="204594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Completion scores are instantly recorded in the LMS and synced directly to SAP.</a:t>
            </a:r>
            <a:endParaRPr/>
          </a:p>
        </p:txBody>
      </p:sp>
      <p:sp>
        <p:nvSpPr>
          <p:cNvPr id="205" name="Google Shape;205;p20"/>
          <p:cNvSpPr/>
          <p:nvPr/>
        </p:nvSpPr>
        <p:spPr>
          <a:xfrm>
            <a:off x="1727820" y="4043362"/>
            <a:ext cx="228600" cy="228600"/>
          </a:xfrm>
          <a:prstGeom prst="roundRect">
            <a:avLst>
              <a:gd fmla="val 50000" name="adj"/>
            </a:avLst>
          </a:prstGeom>
          <a:solidFill>
            <a:srgbClr val="0F172A"/>
          </a:solidFill>
          <a:ln cap="flat" cmpd="sng" w="38100">
            <a:solidFill>
              <a:srgbClr val="FBBF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0"/>
          <p:cNvSpPr/>
          <p:nvPr/>
        </p:nvSpPr>
        <p:spPr>
          <a:xfrm>
            <a:off x="4563740" y="4043362"/>
            <a:ext cx="228600" cy="228600"/>
          </a:xfrm>
          <a:prstGeom prst="roundRect">
            <a:avLst>
              <a:gd fmla="val 50000" name="adj"/>
            </a:avLst>
          </a:prstGeom>
          <a:solidFill>
            <a:srgbClr val="0F172A"/>
          </a:solidFill>
          <a:ln cap="flat" cmpd="sng" w="38100">
            <a:solidFill>
              <a:srgbClr val="FBBF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0"/>
          <p:cNvSpPr/>
          <p:nvPr/>
        </p:nvSpPr>
        <p:spPr>
          <a:xfrm>
            <a:off x="7399659" y="4043362"/>
            <a:ext cx="228600" cy="228600"/>
          </a:xfrm>
          <a:prstGeom prst="roundRect">
            <a:avLst>
              <a:gd fmla="val 50000" name="adj"/>
            </a:avLst>
          </a:prstGeom>
          <a:solidFill>
            <a:srgbClr val="0F172A"/>
          </a:solidFill>
          <a:ln cap="flat" cmpd="sng" w="38100">
            <a:solidFill>
              <a:srgbClr val="FBBF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p:nvPr/>
        </p:nvSpPr>
        <p:spPr>
          <a:xfrm>
            <a:off x="10235579" y="4043362"/>
            <a:ext cx="228600" cy="228600"/>
          </a:xfrm>
          <a:prstGeom prst="roundRect">
            <a:avLst>
              <a:gd fmla="val 50000" name="adj"/>
            </a:avLst>
          </a:prstGeom>
          <a:solidFill>
            <a:srgbClr val="0F172A"/>
          </a:solidFill>
          <a:ln cap="flat" cmpd="sng" w="38100">
            <a:solidFill>
              <a:srgbClr val="FBBF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0"/>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The Operational Flow</a:t>
            </a:r>
            <a:endParaRPr/>
          </a:p>
        </p:txBody>
      </p:sp>
      <p:sp>
        <p:nvSpPr>
          <p:cNvPr id="210" name="Google Shape;210;p20"/>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descr="image.png" id="215" name="Google Shape;215;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6" name="Google Shape;216;p21"/>
          <p:cNvPicPr preferRelativeResize="0"/>
          <p:nvPr/>
        </p:nvPicPr>
        <p:blipFill rotWithShape="1">
          <a:blip r:embed="rId4">
            <a:alphaModFix/>
          </a:blip>
          <a:srcRect b="0" l="0" r="0" t="0"/>
          <a:stretch/>
        </p:blipFill>
        <p:spPr>
          <a:xfrm>
            <a:off x="571500" y="2100262"/>
            <a:ext cx="11049000" cy="3733800"/>
          </a:xfrm>
          <a:prstGeom prst="rect">
            <a:avLst/>
          </a:prstGeom>
          <a:noFill/>
          <a:ln>
            <a:noFill/>
          </a:ln>
        </p:spPr>
      </p:pic>
      <p:graphicFrame>
        <p:nvGraphicFramePr>
          <p:cNvPr id="217" name="Google Shape;217;p21"/>
          <p:cNvGraphicFramePr/>
          <p:nvPr/>
        </p:nvGraphicFramePr>
        <p:xfrm>
          <a:off x="581025" y="2109787"/>
          <a:ext cx="3000000" cy="3000000"/>
        </p:xfrm>
        <a:graphic>
          <a:graphicData uri="http://schemas.openxmlformats.org/drawingml/2006/table">
            <a:tbl>
              <a:tblPr bandRow="1" firstRow="1">
                <a:noFill/>
                <a:tableStyleId>{4FFA39C4-1B71-4E77-806F-45FF38CE3970}</a:tableStyleId>
              </a:tblPr>
              <a:tblGrid>
                <a:gridCol w="1495875"/>
                <a:gridCol w="6114450"/>
                <a:gridCol w="3419625"/>
              </a:tblGrid>
              <a:tr h="619125">
                <a:tc>
                  <a:txBody>
                    <a:bodyPr/>
                    <a:lstStyle/>
                    <a:p>
                      <a:pPr indent="0" lvl="0" marL="0" marR="0" rtl="0" algn="l">
                        <a:spcBef>
                          <a:spcPts val="0"/>
                        </a:spcBef>
                        <a:spcAft>
                          <a:spcPts val="0"/>
                        </a:spcAft>
                        <a:buNone/>
                      </a:pPr>
                      <a:r>
                        <a:rPr b="1" i="0" lang="en-US" sz="1350" u="none" cap="none" strike="noStrike">
                          <a:solidFill>
                            <a:srgbClr val="94A3B8"/>
                          </a:solidFill>
                          <a:latin typeface="Inter"/>
                          <a:ea typeface="Inter"/>
                          <a:cs typeface="Inter"/>
                          <a:sym typeface="Inter"/>
                        </a:rPr>
                        <a:t>Phase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1" i="0" lang="en-US" sz="1350" u="none" cap="none" strike="noStrike">
                          <a:solidFill>
                            <a:srgbClr val="94A3B8"/>
                          </a:solidFill>
                          <a:latin typeface="Inter"/>
                          <a:ea typeface="Inter"/>
                          <a:cs typeface="Inter"/>
                          <a:sym typeface="Inter"/>
                        </a:rPr>
                        <a:t>Milestone 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1" i="0" lang="en-US" sz="1350" u="none" cap="none" strike="noStrike">
                          <a:solidFill>
                            <a:srgbClr val="94A3B8"/>
                          </a:solidFill>
                          <a:latin typeface="Inter"/>
                          <a:ea typeface="Inter"/>
                          <a:cs typeface="Inter"/>
                          <a:sym typeface="Inter"/>
                        </a:rPr>
                        <a:t>Target Timeframe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r>
              <a:tr h="619125">
                <a:tc>
                  <a:txBody>
                    <a:bodyPr/>
                    <a:lstStyle/>
                    <a:p>
                      <a:pPr indent="0" lvl="0" marL="0" marR="0" rtl="0" algn="l">
                        <a:spcBef>
                          <a:spcPts val="0"/>
                        </a:spcBef>
                        <a:spcAft>
                          <a:spcPts val="0"/>
                        </a:spcAft>
                        <a:buNone/>
                      </a:pPr>
                      <a:r>
                        <a:rPr b="1" i="0" lang="en-US" sz="1200" u="none" cap="none" strike="noStrike">
                          <a:solidFill>
                            <a:srgbClr val="FBBF24"/>
                          </a:solidFill>
                          <a:latin typeface="Inter"/>
                          <a:ea typeface="Inter"/>
                          <a:cs typeface="Inter"/>
                          <a:sym typeface="Inter"/>
                        </a:rPr>
                        <a:t>Stage 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Validate pilot on Data Centre hardware using dummy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Within 15 days of IT allocation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9125">
                <a:tc>
                  <a:txBody>
                    <a:bodyPr/>
                    <a:lstStyle/>
                    <a:p>
                      <a:pPr indent="0" lvl="0" marL="0" marR="0" rtl="0" algn="l">
                        <a:spcBef>
                          <a:spcPts val="0"/>
                        </a:spcBef>
                        <a:spcAft>
                          <a:spcPts val="0"/>
                        </a:spcAft>
                        <a:buNone/>
                      </a:pPr>
                      <a:r>
                        <a:rPr b="1" i="0" lang="en-US" sz="1200" u="none" cap="none" strike="noStrike">
                          <a:solidFill>
                            <a:srgbClr val="FBBF24"/>
                          </a:solidFill>
                          <a:latin typeface="Inter"/>
                          <a:ea typeface="Inter"/>
                          <a:cs typeface="Inter"/>
                          <a:sym typeface="Inter"/>
                        </a:rPr>
                        <a:t>Stage 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Open system to test cohort (~10 users) with genuine content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Immediate Post-Validation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9125">
                <a:tc>
                  <a:txBody>
                    <a:bodyPr/>
                    <a:lstStyle/>
                    <a:p>
                      <a:pPr indent="0" lvl="0" marL="0" marR="0" rtl="0" algn="l">
                        <a:spcBef>
                          <a:spcPts val="0"/>
                        </a:spcBef>
                        <a:spcAft>
                          <a:spcPts val="0"/>
                        </a:spcAft>
                        <a:buNone/>
                      </a:pPr>
                      <a:r>
                        <a:rPr b="1" i="0" lang="en-US" sz="1200" u="none" cap="none" strike="noStrike">
                          <a:solidFill>
                            <a:srgbClr val="FBBF24"/>
                          </a:solidFill>
                          <a:latin typeface="Inter"/>
                          <a:ea typeface="Inter"/>
                          <a:cs typeface="Inter"/>
                          <a:sym typeface="Inter"/>
                        </a:rPr>
                        <a:t>Stage 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Curate and migrate comprehensive course library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Parallel to Phase 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9125">
                <a:tc>
                  <a:txBody>
                    <a:bodyPr/>
                    <a:lstStyle/>
                    <a:p>
                      <a:pPr indent="0" lvl="0" marL="0" marR="0" rtl="0" algn="l">
                        <a:spcBef>
                          <a:spcPts val="0"/>
                        </a:spcBef>
                        <a:spcAft>
                          <a:spcPts val="0"/>
                        </a:spcAft>
                        <a:buNone/>
                      </a:pPr>
                      <a:r>
                        <a:rPr b="1" i="0" lang="en-US" sz="1200" u="none" cap="none" strike="noStrike">
                          <a:solidFill>
                            <a:srgbClr val="38BDF8"/>
                          </a:solidFill>
                          <a:latin typeface="Inter"/>
                          <a:ea typeface="Inter"/>
                          <a:cs typeface="Inter"/>
                          <a:sym typeface="Inter"/>
                        </a:rPr>
                        <a:t>Stage 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Scale platform capacity to full organizational headcount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Strategic Go-Live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9125">
                <a:tc>
                  <a:txBody>
                    <a:bodyPr/>
                    <a:lstStyle/>
                    <a:p>
                      <a:pPr indent="0" lvl="0" marL="0" marR="0" rtl="0" algn="l">
                        <a:spcBef>
                          <a:spcPts val="0"/>
                        </a:spcBef>
                        <a:spcAft>
                          <a:spcPts val="0"/>
                        </a:spcAft>
                        <a:buNone/>
                      </a:pPr>
                      <a:r>
                        <a:rPr b="1" i="0" lang="en-US" sz="1200" u="none" cap="none" strike="noStrike">
                          <a:solidFill>
                            <a:srgbClr val="38BDF8"/>
                          </a:solidFill>
                          <a:latin typeface="Inter"/>
                          <a:ea typeface="Inter"/>
                          <a:cs typeface="Inter"/>
                          <a:sym typeface="Inter"/>
                        </a:rPr>
                        <a:t>Stage 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Deploy device-agnostic accessibility (Mobile, Tablet)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E2E8F0"/>
                          </a:solidFill>
                          <a:latin typeface="Inter"/>
                          <a:ea typeface="Inter"/>
                          <a:cs typeface="Inter"/>
                          <a:sym typeface="Inter"/>
                        </a:rPr>
                        <a:t>Post-Launch Optimisation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18" name="Google Shape;218;p21"/>
          <p:cNvSpPr/>
          <p:nvPr/>
        </p:nvSpPr>
        <p:spPr>
          <a:xfrm>
            <a:off x="581025" y="2724150"/>
            <a:ext cx="1495871"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1"/>
          <p:cNvSpPr/>
          <p:nvPr/>
        </p:nvSpPr>
        <p:spPr>
          <a:xfrm>
            <a:off x="2076896" y="2724150"/>
            <a:ext cx="6114454"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1"/>
          <p:cNvSpPr/>
          <p:nvPr/>
        </p:nvSpPr>
        <p:spPr>
          <a:xfrm>
            <a:off x="8191351" y="2724150"/>
            <a:ext cx="3419623"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1"/>
          <p:cNvSpPr/>
          <p:nvPr/>
        </p:nvSpPr>
        <p:spPr>
          <a:xfrm>
            <a:off x="581025" y="3343275"/>
            <a:ext cx="1495871"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1"/>
          <p:cNvSpPr/>
          <p:nvPr/>
        </p:nvSpPr>
        <p:spPr>
          <a:xfrm>
            <a:off x="2076896" y="3343275"/>
            <a:ext cx="6114454"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1"/>
          <p:cNvSpPr/>
          <p:nvPr/>
        </p:nvSpPr>
        <p:spPr>
          <a:xfrm>
            <a:off x="8191351" y="3343275"/>
            <a:ext cx="3419623"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1"/>
          <p:cNvSpPr/>
          <p:nvPr/>
        </p:nvSpPr>
        <p:spPr>
          <a:xfrm>
            <a:off x="581025" y="3962400"/>
            <a:ext cx="1495871"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1"/>
          <p:cNvSpPr/>
          <p:nvPr/>
        </p:nvSpPr>
        <p:spPr>
          <a:xfrm>
            <a:off x="2076896" y="3962400"/>
            <a:ext cx="6114454"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1"/>
          <p:cNvSpPr/>
          <p:nvPr/>
        </p:nvSpPr>
        <p:spPr>
          <a:xfrm>
            <a:off x="8191351" y="3962400"/>
            <a:ext cx="3419623"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1"/>
          <p:cNvSpPr/>
          <p:nvPr/>
        </p:nvSpPr>
        <p:spPr>
          <a:xfrm>
            <a:off x="581025" y="4581525"/>
            <a:ext cx="1495871"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1"/>
          <p:cNvSpPr/>
          <p:nvPr/>
        </p:nvSpPr>
        <p:spPr>
          <a:xfrm>
            <a:off x="2076896" y="4581525"/>
            <a:ext cx="6114454"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21"/>
          <p:cNvSpPr/>
          <p:nvPr/>
        </p:nvSpPr>
        <p:spPr>
          <a:xfrm>
            <a:off x="8191351" y="4581525"/>
            <a:ext cx="3419623"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581025" y="5200650"/>
            <a:ext cx="1495871"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1"/>
          <p:cNvSpPr/>
          <p:nvPr/>
        </p:nvSpPr>
        <p:spPr>
          <a:xfrm>
            <a:off x="2076896" y="5200650"/>
            <a:ext cx="6114454"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1"/>
          <p:cNvSpPr/>
          <p:nvPr/>
        </p:nvSpPr>
        <p:spPr>
          <a:xfrm>
            <a:off x="8191351" y="5200650"/>
            <a:ext cx="3419623"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21"/>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Staged Implementation Plan</a:t>
            </a:r>
            <a:endParaRPr/>
          </a:p>
        </p:txBody>
      </p:sp>
      <p:sp>
        <p:nvSpPr>
          <p:cNvPr id="234" name="Google Shape;234;p21"/>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image.png" id="239" name="Google Shape;23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0" name="Google Shape;240;p22"/>
          <p:cNvPicPr preferRelativeResize="0"/>
          <p:nvPr/>
        </p:nvPicPr>
        <p:blipFill rotWithShape="1">
          <a:blip r:embed="rId4">
            <a:alphaModFix/>
          </a:blip>
          <a:srcRect b="0" l="0" r="0" t="0"/>
          <a:stretch/>
        </p:blipFill>
        <p:spPr>
          <a:xfrm>
            <a:off x="571500" y="1943100"/>
            <a:ext cx="3492549" cy="4048125"/>
          </a:xfrm>
          <a:prstGeom prst="rect">
            <a:avLst/>
          </a:prstGeom>
          <a:noFill/>
          <a:ln>
            <a:noFill/>
          </a:ln>
        </p:spPr>
      </p:pic>
      <p:pic>
        <p:nvPicPr>
          <p:cNvPr descr="image.png" id="241" name="Google Shape;241;p22"/>
          <p:cNvPicPr preferRelativeResize="0"/>
          <p:nvPr/>
        </p:nvPicPr>
        <p:blipFill rotWithShape="1">
          <a:blip r:embed="rId5">
            <a:alphaModFix/>
          </a:blip>
          <a:srcRect b="0" l="0" r="0" t="0"/>
          <a:stretch/>
        </p:blipFill>
        <p:spPr>
          <a:xfrm>
            <a:off x="4349799" y="1943100"/>
            <a:ext cx="3492549" cy="4048125"/>
          </a:xfrm>
          <a:prstGeom prst="rect">
            <a:avLst/>
          </a:prstGeom>
          <a:noFill/>
          <a:ln>
            <a:noFill/>
          </a:ln>
        </p:spPr>
      </p:pic>
      <p:pic>
        <p:nvPicPr>
          <p:cNvPr descr="image.png" id="242" name="Google Shape;242;p22"/>
          <p:cNvPicPr preferRelativeResize="0"/>
          <p:nvPr/>
        </p:nvPicPr>
        <p:blipFill rotWithShape="1">
          <a:blip r:embed="rId6">
            <a:alphaModFix/>
          </a:blip>
          <a:srcRect b="0" l="0" r="0" t="0"/>
          <a:stretch/>
        </p:blipFill>
        <p:spPr>
          <a:xfrm>
            <a:off x="8128099" y="1943100"/>
            <a:ext cx="3492549" cy="4048125"/>
          </a:xfrm>
          <a:prstGeom prst="rect">
            <a:avLst/>
          </a:prstGeom>
          <a:noFill/>
          <a:ln>
            <a:noFill/>
          </a:ln>
        </p:spPr>
      </p:pic>
      <p:pic>
        <p:nvPicPr>
          <p:cNvPr descr="image.png" id="243" name="Google Shape;243;p22"/>
          <p:cNvPicPr preferRelativeResize="0"/>
          <p:nvPr/>
        </p:nvPicPr>
        <p:blipFill rotWithShape="1">
          <a:blip r:embed="rId7">
            <a:alphaModFix/>
          </a:blip>
          <a:srcRect b="0" l="0" r="0" t="0"/>
          <a:stretch/>
        </p:blipFill>
        <p:spPr>
          <a:xfrm>
            <a:off x="819150" y="2190750"/>
            <a:ext cx="2997249" cy="1905000"/>
          </a:xfrm>
          <a:prstGeom prst="rect">
            <a:avLst/>
          </a:prstGeom>
          <a:noFill/>
          <a:ln>
            <a:noFill/>
          </a:ln>
        </p:spPr>
      </p:pic>
      <p:pic>
        <p:nvPicPr>
          <p:cNvPr descr="image.png" id="244" name="Google Shape;244;p22"/>
          <p:cNvPicPr preferRelativeResize="0"/>
          <p:nvPr/>
        </p:nvPicPr>
        <p:blipFill rotWithShape="1">
          <a:blip r:embed="rId8">
            <a:alphaModFix/>
          </a:blip>
          <a:srcRect b="0" l="0" r="0" t="0"/>
          <a:stretch/>
        </p:blipFill>
        <p:spPr>
          <a:xfrm>
            <a:off x="4597449" y="2190750"/>
            <a:ext cx="2997249" cy="1905000"/>
          </a:xfrm>
          <a:prstGeom prst="rect">
            <a:avLst/>
          </a:prstGeom>
          <a:noFill/>
          <a:ln>
            <a:noFill/>
          </a:ln>
        </p:spPr>
      </p:pic>
      <p:pic>
        <p:nvPicPr>
          <p:cNvPr descr="image.png" id="245" name="Google Shape;245;p22"/>
          <p:cNvPicPr preferRelativeResize="0"/>
          <p:nvPr/>
        </p:nvPicPr>
        <p:blipFill rotWithShape="1">
          <a:blip r:embed="rId9">
            <a:alphaModFix/>
          </a:blip>
          <a:srcRect b="0" l="0" r="0" t="0"/>
          <a:stretch/>
        </p:blipFill>
        <p:spPr>
          <a:xfrm>
            <a:off x="8375749" y="2190750"/>
            <a:ext cx="2997249" cy="1905000"/>
          </a:xfrm>
          <a:prstGeom prst="rect">
            <a:avLst/>
          </a:prstGeom>
          <a:noFill/>
          <a:ln>
            <a:noFill/>
          </a:ln>
        </p:spPr>
      </p:pic>
      <p:sp>
        <p:nvSpPr>
          <p:cNvPr id="246" name="Google Shape;246;p22"/>
          <p:cNvSpPr txBox="1"/>
          <p:nvPr/>
        </p:nvSpPr>
        <p:spPr>
          <a:xfrm>
            <a:off x="819150" y="4333875"/>
            <a:ext cx="299724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Inter"/>
                <a:ea typeface="Inter"/>
                <a:cs typeface="Inter"/>
                <a:sym typeface="Inter"/>
              </a:rPr>
              <a:t>IT Allocation:</a:t>
            </a:r>
            <a:r>
              <a:rPr b="0" i="0" lang="en-US" sz="1500" u="none" cap="none" strike="noStrike">
                <a:solidFill>
                  <a:srgbClr val="94A3B8"/>
                </a:solidFill>
                <a:latin typeface="Inter"/>
                <a:ea typeface="Inter"/>
                <a:cs typeface="Inter"/>
                <a:sym typeface="Inter"/>
              </a:rPr>
              <a:t> A modest initial server/VM footprint from the Data Centre (1-2 hosts, ~500GB storage).</a:t>
            </a:r>
            <a:endParaRPr/>
          </a:p>
        </p:txBody>
      </p:sp>
      <p:sp>
        <p:nvSpPr>
          <p:cNvPr id="247" name="Google Shape;247;p22"/>
          <p:cNvSpPr txBox="1"/>
          <p:nvPr/>
        </p:nvSpPr>
        <p:spPr>
          <a:xfrm>
            <a:off x="4597449" y="4333875"/>
            <a:ext cx="299724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Inter"/>
                <a:ea typeface="Inter"/>
                <a:cs typeface="Inter"/>
                <a:sym typeface="Inter"/>
              </a:rPr>
              <a:t>Test Group:</a:t>
            </a:r>
            <a:r>
              <a:rPr b="0" i="0" lang="en-US" sz="1500" u="none" cap="none" strike="noStrike">
                <a:solidFill>
                  <a:srgbClr val="94A3B8"/>
                </a:solidFill>
                <a:latin typeface="Inter"/>
                <a:ea typeface="Inter"/>
                <a:cs typeface="Inter"/>
                <a:sym typeface="Inter"/>
              </a:rPr>
              <a:t> Access granted to roughly 10 cross-functional users to stress-test the UX and dashboards.</a:t>
            </a:r>
            <a:endParaRPr/>
          </a:p>
        </p:txBody>
      </p:sp>
      <p:sp>
        <p:nvSpPr>
          <p:cNvPr id="248" name="Google Shape;248;p22"/>
          <p:cNvSpPr txBox="1"/>
          <p:nvPr/>
        </p:nvSpPr>
        <p:spPr>
          <a:xfrm>
            <a:off x="8375749" y="4333875"/>
            <a:ext cx="299724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Inter"/>
                <a:ea typeface="Inter"/>
                <a:cs typeface="Inter"/>
                <a:sym typeface="Inter"/>
              </a:rPr>
              <a:t>Sample Content:</a:t>
            </a:r>
            <a:r>
              <a:rPr b="0" i="0" lang="en-US" sz="1500" u="none" cap="none" strike="noStrike">
                <a:solidFill>
                  <a:srgbClr val="94A3B8"/>
                </a:solidFill>
                <a:latin typeface="Inter"/>
                <a:ea typeface="Inter"/>
                <a:cs typeface="Inter"/>
                <a:sym typeface="Inter"/>
              </a:rPr>
              <a:t> A controlled list of readily available training videos and PDFs to run through the logic.</a:t>
            </a:r>
            <a:endParaRPr/>
          </a:p>
        </p:txBody>
      </p:sp>
      <p:pic>
        <p:nvPicPr>
          <p:cNvPr descr="image.png" id="249" name="Google Shape;249;p22"/>
          <p:cNvPicPr preferRelativeResize="0"/>
          <p:nvPr/>
        </p:nvPicPr>
        <p:blipFill rotWithShape="1">
          <a:blip r:embed="rId10">
            <a:alphaModFix/>
          </a:blip>
          <a:srcRect b="0" l="0" r="0" t="0"/>
          <a:stretch/>
        </p:blipFill>
        <p:spPr>
          <a:xfrm>
            <a:off x="828675" y="2200275"/>
            <a:ext cx="2978199" cy="1885950"/>
          </a:xfrm>
          <a:prstGeom prst="rect">
            <a:avLst/>
          </a:prstGeom>
          <a:noFill/>
          <a:ln>
            <a:noFill/>
          </a:ln>
        </p:spPr>
      </p:pic>
      <p:pic>
        <p:nvPicPr>
          <p:cNvPr descr="image.png" id="250" name="Google Shape;250;p22"/>
          <p:cNvPicPr preferRelativeResize="0"/>
          <p:nvPr/>
        </p:nvPicPr>
        <p:blipFill rotWithShape="1">
          <a:blip r:embed="rId11">
            <a:alphaModFix/>
          </a:blip>
          <a:srcRect b="0" l="0" r="0" t="0"/>
          <a:stretch/>
        </p:blipFill>
        <p:spPr>
          <a:xfrm>
            <a:off x="4606974" y="2200275"/>
            <a:ext cx="2978199" cy="1885950"/>
          </a:xfrm>
          <a:prstGeom prst="rect">
            <a:avLst/>
          </a:prstGeom>
          <a:noFill/>
          <a:ln>
            <a:noFill/>
          </a:ln>
        </p:spPr>
      </p:pic>
      <p:pic>
        <p:nvPicPr>
          <p:cNvPr descr="image.png" id="251" name="Google Shape;251;p22"/>
          <p:cNvPicPr preferRelativeResize="0"/>
          <p:nvPr/>
        </p:nvPicPr>
        <p:blipFill rotWithShape="1">
          <a:blip r:embed="rId12">
            <a:alphaModFix/>
          </a:blip>
          <a:srcRect b="0" l="0" r="0" t="0"/>
          <a:stretch/>
        </p:blipFill>
        <p:spPr>
          <a:xfrm>
            <a:off x="8385274" y="2200275"/>
            <a:ext cx="2759273" cy="171450"/>
          </a:xfrm>
          <a:prstGeom prst="rect">
            <a:avLst/>
          </a:prstGeom>
          <a:noFill/>
          <a:ln>
            <a:noFill/>
          </a:ln>
        </p:spPr>
      </p:pic>
      <p:sp>
        <p:nvSpPr>
          <p:cNvPr id="252" name="Google Shape;252;p22"/>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Testing Stage Prerequisites</a:t>
            </a:r>
            <a:endParaRPr/>
          </a:p>
        </p:txBody>
      </p:sp>
      <p:sp>
        <p:nvSpPr>
          <p:cNvPr id="253" name="Google Shape;253;p22"/>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image.png" id="258" name="Google Shape;258;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9" name="Google Shape;259;p23"/>
          <p:cNvPicPr preferRelativeResize="0"/>
          <p:nvPr/>
        </p:nvPicPr>
        <p:blipFill rotWithShape="1">
          <a:blip r:embed="rId4">
            <a:alphaModFix/>
          </a:blip>
          <a:srcRect b="0" l="0" r="0" t="0"/>
          <a:stretch/>
        </p:blipFill>
        <p:spPr>
          <a:xfrm>
            <a:off x="1285875" y="2062162"/>
            <a:ext cx="3810000" cy="3810000"/>
          </a:xfrm>
          <a:prstGeom prst="rect">
            <a:avLst/>
          </a:prstGeom>
          <a:noFill/>
          <a:ln>
            <a:noFill/>
          </a:ln>
        </p:spPr>
      </p:pic>
      <p:sp>
        <p:nvSpPr>
          <p:cNvPr id="260" name="Google Shape;260;p23"/>
          <p:cNvSpPr txBox="1"/>
          <p:nvPr/>
        </p:nvSpPr>
        <p:spPr>
          <a:xfrm>
            <a:off x="6381750" y="2314575"/>
            <a:ext cx="550068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Plus Jakarta Sans SemiBold"/>
                <a:ea typeface="Plus Jakarta Sans SemiBold"/>
                <a:cs typeface="Plus Jakarta Sans SemiBold"/>
                <a:sym typeface="Plus Jakarta Sans SemiBold"/>
              </a:rPr>
              <a:t>Long-Term Cost Avoidance</a:t>
            </a:r>
            <a:endParaRPr/>
          </a:p>
        </p:txBody>
      </p:sp>
      <p:sp>
        <p:nvSpPr>
          <p:cNvPr id="261" name="Google Shape;261;p23"/>
          <p:cNvSpPr txBox="1"/>
          <p:nvPr/>
        </p:nvSpPr>
        <p:spPr>
          <a:xfrm>
            <a:off x="6381750" y="280035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Deploying this in-house system provides immediate unification of our training capabilities without triggering the heavy, recurring OPEX associated with commercial SaaS products.</a:t>
            </a:r>
            <a:endParaRPr/>
          </a:p>
        </p:txBody>
      </p:sp>
      <p:sp>
        <p:nvSpPr>
          <p:cNvPr id="262" name="Google Shape;262;p23"/>
          <p:cNvSpPr txBox="1"/>
          <p:nvPr/>
        </p:nvSpPr>
        <p:spPr>
          <a:xfrm>
            <a:off x="6381750" y="421005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Management gains near real-time, transparent progress reporting across the entire organization, while maintaining absolute data sovereignty and effectively zero per-employee license fees over the next decade.</a:t>
            </a:r>
            <a:endParaRPr/>
          </a:p>
        </p:txBody>
      </p:sp>
      <p:pic>
        <p:nvPicPr>
          <p:cNvPr descr="image.png" id="263" name="Google Shape;263;p23"/>
          <p:cNvPicPr preferRelativeResize="0"/>
          <p:nvPr/>
        </p:nvPicPr>
        <p:blipFill rotWithShape="1">
          <a:blip r:embed="rId5">
            <a:alphaModFix/>
          </a:blip>
          <a:srcRect b="0" l="0" r="0" t="0"/>
          <a:stretch/>
        </p:blipFill>
        <p:spPr>
          <a:xfrm>
            <a:off x="1323975" y="2100262"/>
            <a:ext cx="1908571" cy="171450"/>
          </a:xfrm>
          <a:prstGeom prst="rect">
            <a:avLst/>
          </a:prstGeom>
          <a:noFill/>
          <a:ln>
            <a:noFill/>
          </a:ln>
        </p:spPr>
      </p:pic>
      <p:sp>
        <p:nvSpPr>
          <p:cNvPr id="264" name="Google Shape;264;p2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The ROI of Ownership</a:t>
            </a:r>
            <a:endParaRPr/>
          </a:p>
        </p:txBody>
      </p:sp>
      <p:sp>
        <p:nvSpPr>
          <p:cNvPr id="265" name="Google Shape;265;p23"/>
          <p:cNvSpPr/>
          <p:nvPr/>
        </p:nvSpPr>
        <p:spPr>
          <a:xfrm>
            <a:off x="571500" y="124777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image.png" id="270" name="Google Shape;270;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1" name="Google Shape;271;p24"/>
          <p:cNvPicPr preferRelativeResize="0"/>
          <p:nvPr/>
        </p:nvPicPr>
        <p:blipFill rotWithShape="1">
          <a:blip r:embed="rId4">
            <a:alphaModFix/>
          </a:blip>
          <a:srcRect b="0" l="0" r="0" t="0"/>
          <a:stretch/>
        </p:blipFill>
        <p:spPr>
          <a:xfrm>
            <a:off x="1676400" y="1371600"/>
            <a:ext cx="8839200" cy="4114800"/>
          </a:xfrm>
          <a:prstGeom prst="rect">
            <a:avLst/>
          </a:prstGeom>
          <a:noFill/>
          <a:ln>
            <a:noFill/>
          </a:ln>
        </p:spPr>
      </p:pic>
      <p:sp>
        <p:nvSpPr>
          <p:cNvPr id="272" name="Google Shape;272;p24"/>
          <p:cNvSpPr txBox="1"/>
          <p:nvPr/>
        </p:nvSpPr>
        <p:spPr>
          <a:xfrm>
            <a:off x="2065496" y="2143125"/>
            <a:ext cx="8061007" cy="8477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FBBF24"/>
                </a:solidFill>
                <a:latin typeface="Plus Jakarta Sans"/>
                <a:ea typeface="Plus Jakarta Sans"/>
                <a:cs typeface="Plus Jakarta Sans"/>
                <a:sym typeface="Plus Jakarta Sans"/>
              </a:rPr>
              <a:t>The Recommendation</a:t>
            </a:r>
            <a:endParaRPr/>
          </a:p>
        </p:txBody>
      </p:sp>
      <p:sp>
        <p:nvSpPr>
          <p:cNvPr id="273" name="Google Shape;273;p24"/>
          <p:cNvSpPr txBox="1"/>
          <p:nvPr/>
        </p:nvSpPr>
        <p:spPr>
          <a:xfrm>
            <a:off x="2257425" y="3276600"/>
            <a:ext cx="7677150" cy="7429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950" u="none" cap="none" strike="noStrike">
                <a:solidFill>
                  <a:srgbClr val="F8FAFC"/>
                </a:solidFill>
                <a:latin typeface="Inter"/>
                <a:ea typeface="Inter"/>
                <a:cs typeface="Inter"/>
                <a:sym typeface="Inter"/>
              </a:rPr>
              <a:t>We request management approval to formally allocate Phase 1 Data Centre resources and initiate the in-house pilot rollout.</a:t>
            </a:r>
            <a:endParaRPr/>
          </a:p>
        </p:txBody>
      </p:sp>
      <p:sp>
        <p:nvSpPr>
          <p:cNvPr id="274" name="Google Shape;274;p24"/>
          <p:cNvSpPr txBox="1"/>
          <p:nvPr/>
        </p:nvSpPr>
        <p:spPr>
          <a:xfrm>
            <a:off x="2257425" y="4495800"/>
            <a:ext cx="7677150"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00000"/>
                </a:solidFill>
                <a:latin typeface="Times New Roman"/>
                <a:ea typeface="Times New Roman"/>
                <a:cs typeface="Times New Roman"/>
                <a:sym typeface="Times New Roman"/>
              </a:rPr>
              <a:t>THANK YOU FOR YOUR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image.png" id="279" name="Google Shape;279;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0" name="Google Shape;280;p25"/>
          <p:cNvSpPr/>
          <p:nvPr/>
        </p:nvSpPr>
        <p:spPr>
          <a:xfrm>
            <a:off x="571500" y="1518642"/>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5"/>
          <p:cNvSpPr/>
          <p:nvPr/>
        </p:nvSpPr>
        <p:spPr>
          <a:xfrm>
            <a:off x="571500" y="2303412"/>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5"/>
          <p:cNvSpPr/>
          <p:nvPr/>
        </p:nvSpPr>
        <p:spPr>
          <a:xfrm>
            <a:off x="571500" y="3088183"/>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5"/>
          <p:cNvSpPr/>
          <p:nvPr/>
        </p:nvSpPr>
        <p:spPr>
          <a:xfrm>
            <a:off x="571500" y="3872954"/>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5"/>
          <p:cNvSpPr/>
          <p:nvPr/>
        </p:nvSpPr>
        <p:spPr>
          <a:xfrm>
            <a:off x="571500" y="4657725"/>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5"/>
          <p:cNvSpPr/>
          <p:nvPr/>
        </p:nvSpPr>
        <p:spPr>
          <a:xfrm>
            <a:off x="571500" y="229388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5"/>
          <p:cNvSpPr/>
          <p:nvPr/>
        </p:nvSpPr>
        <p:spPr>
          <a:xfrm>
            <a:off x="571500" y="229388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25"/>
          <p:cNvSpPr/>
          <p:nvPr/>
        </p:nvSpPr>
        <p:spPr>
          <a:xfrm>
            <a:off x="571500" y="3078658"/>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25"/>
          <p:cNvSpPr/>
          <p:nvPr/>
        </p:nvSpPr>
        <p:spPr>
          <a:xfrm>
            <a:off x="571500" y="3078658"/>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25"/>
          <p:cNvSpPr/>
          <p:nvPr/>
        </p:nvSpPr>
        <p:spPr>
          <a:xfrm>
            <a:off x="571500" y="3863429"/>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5"/>
          <p:cNvSpPr/>
          <p:nvPr/>
        </p:nvSpPr>
        <p:spPr>
          <a:xfrm>
            <a:off x="571500" y="3863429"/>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5"/>
          <p:cNvSpPr/>
          <p:nvPr/>
        </p:nvSpPr>
        <p:spPr>
          <a:xfrm>
            <a:off x="571500" y="46482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5"/>
          <p:cNvSpPr/>
          <p:nvPr/>
        </p:nvSpPr>
        <p:spPr>
          <a:xfrm>
            <a:off x="571500" y="46482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5"/>
          <p:cNvSpPr/>
          <p:nvPr/>
        </p:nvSpPr>
        <p:spPr>
          <a:xfrm>
            <a:off x="571500" y="563106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5"/>
          <p:cNvSpPr/>
          <p:nvPr/>
        </p:nvSpPr>
        <p:spPr>
          <a:xfrm>
            <a:off x="571500" y="563106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5" name="Google Shape;295;p25"/>
          <p:cNvPicPr preferRelativeResize="0"/>
          <p:nvPr/>
        </p:nvPicPr>
        <p:blipFill rotWithShape="1">
          <a:blip r:embed="rId4">
            <a:alphaModFix/>
          </a:blip>
          <a:srcRect b="0" l="0" r="0" t="0"/>
          <a:stretch/>
        </p:blipFill>
        <p:spPr>
          <a:xfrm>
            <a:off x="571500" y="1668065"/>
            <a:ext cx="857250" cy="476250"/>
          </a:xfrm>
          <a:prstGeom prst="rect">
            <a:avLst/>
          </a:prstGeom>
          <a:noFill/>
          <a:ln>
            <a:noFill/>
          </a:ln>
        </p:spPr>
      </p:pic>
      <p:sp>
        <p:nvSpPr>
          <p:cNvPr id="296" name="Google Shape;296;p25"/>
          <p:cNvSpPr txBox="1"/>
          <p:nvPr/>
        </p:nvSpPr>
        <p:spPr>
          <a:xfrm>
            <a:off x="1666875" y="1661517"/>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Inter"/>
                <a:ea typeface="Inter"/>
                <a:cs typeface="Inter"/>
                <a:sym typeface="Inter"/>
              </a:rPr>
              <a:t>https://p16-seeyou-useast8.capcutcdn-us.com/tos-useast8-i-2zwwjm3azk-tx2/8859caf388cd4f9b84c711b439965e47~tplv-2zwwjm3azk-compress:q75.image</a:t>
            </a:r>
            <a:endParaRPr/>
          </a:p>
        </p:txBody>
      </p:sp>
      <p:sp>
        <p:nvSpPr>
          <p:cNvPr id="297" name="Google Shape;297;p25"/>
          <p:cNvSpPr txBox="1"/>
          <p:nvPr/>
        </p:nvSpPr>
        <p:spPr>
          <a:xfrm>
            <a:off x="1666875" y="1907232"/>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dreamina.capcut.com</a:t>
            </a:r>
            <a:endParaRPr/>
          </a:p>
        </p:txBody>
      </p:sp>
      <p:pic>
        <p:nvPicPr>
          <p:cNvPr descr="image.png" id="298" name="Google Shape;298;p25"/>
          <p:cNvPicPr preferRelativeResize="0"/>
          <p:nvPr/>
        </p:nvPicPr>
        <p:blipFill rotWithShape="1">
          <a:blip r:embed="rId5">
            <a:alphaModFix/>
          </a:blip>
          <a:srcRect b="0" l="0" r="0" t="0"/>
          <a:stretch/>
        </p:blipFill>
        <p:spPr>
          <a:xfrm>
            <a:off x="571500" y="2452836"/>
            <a:ext cx="857250" cy="476250"/>
          </a:xfrm>
          <a:prstGeom prst="rect">
            <a:avLst/>
          </a:prstGeom>
          <a:noFill/>
          <a:ln>
            <a:noFill/>
          </a:ln>
        </p:spPr>
      </p:pic>
      <p:sp>
        <p:nvSpPr>
          <p:cNvPr id="299" name="Google Shape;299;p25"/>
          <p:cNvSpPr txBox="1"/>
          <p:nvPr/>
        </p:nvSpPr>
        <p:spPr>
          <a:xfrm>
            <a:off x="1666875" y="2446287"/>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Inter"/>
                <a:ea typeface="Inter"/>
                <a:cs typeface="Inter"/>
                <a:sym typeface="Inter"/>
              </a:rPr>
              <a:t>https://images.splitshire.com/full/Abstract-Biometric-Data-Analysis-Interface_1ba609.png</a:t>
            </a:r>
            <a:endParaRPr/>
          </a:p>
        </p:txBody>
      </p:sp>
      <p:sp>
        <p:nvSpPr>
          <p:cNvPr id="300" name="Google Shape;300;p25"/>
          <p:cNvSpPr txBox="1"/>
          <p:nvPr/>
        </p:nvSpPr>
        <p:spPr>
          <a:xfrm>
            <a:off x="1666875" y="2692003"/>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www.splitshire.com</a:t>
            </a:r>
            <a:endParaRPr/>
          </a:p>
        </p:txBody>
      </p:sp>
      <p:pic>
        <p:nvPicPr>
          <p:cNvPr descr="image.png" id="301" name="Google Shape;301;p25"/>
          <p:cNvPicPr preferRelativeResize="0"/>
          <p:nvPr/>
        </p:nvPicPr>
        <p:blipFill rotWithShape="1">
          <a:blip r:embed="rId6">
            <a:alphaModFix/>
          </a:blip>
          <a:srcRect b="0" l="0" r="0" t="0"/>
          <a:stretch/>
        </p:blipFill>
        <p:spPr>
          <a:xfrm>
            <a:off x="571500" y="3237607"/>
            <a:ext cx="857250" cy="476250"/>
          </a:xfrm>
          <a:prstGeom prst="rect">
            <a:avLst/>
          </a:prstGeom>
          <a:noFill/>
          <a:ln>
            <a:noFill/>
          </a:ln>
        </p:spPr>
      </p:pic>
      <p:sp>
        <p:nvSpPr>
          <p:cNvPr id="302" name="Google Shape;302;p25"/>
          <p:cNvSpPr txBox="1"/>
          <p:nvPr/>
        </p:nvSpPr>
        <p:spPr>
          <a:xfrm>
            <a:off x="1666875" y="3231058"/>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Inter"/>
                <a:ea typeface="Inter"/>
                <a:cs typeface="Inter"/>
                <a:sym typeface="Inter"/>
              </a:rPr>
              <a:t>https://png.pngtree.com/png-vector/20260430/ourlarge/pngtree-photorealistic-3d-server-rack-cabinet-with-blue-led-lights-isolated-data-png-image_19207724.webp</a:t>
            </a:r>
            <a:endParaRPr/>
          </a:p>
        </p:txBody>
      </p:sp>
      <p:sp>
        <p:nvSpPr>
          <p:cNvPr id="303" name="Google Shape;303;p25"/>
          <p:cNvSpPr txBox="1"/>
          <p:nvPr/>
        </p:nvSpPr>
        <p:spPr>
          <a:xfrm>
            <a:off x="1666875" y="3476773"/>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pngtree.com</a:t>
            </a:r>
            <a:endParaRPr/>
          </a:p>
        </p:txBody>
      </p:sp>
      <p:pic>
        <p:nvPicPr>
          <p:cNvPr descr="image.png" id="304" name="Google Shape;304;p25"/>
          <p:cNvPicPr preferRelativeResize="0"/>
          <p:nvPr/>
        </p:nvPicPr>
        <p:blipFill rotWithShape="1">
          <a:blip r:embed="rId7">
            <a:alphaModFix/>
          </a:blip>
          <a:srcRect b="0" l="0" r="0" t="0"/>
          <a:stretch/>
        </p:blipFill>
        <p:spPr>
          <a:xfrm>
            <a:off x="571500" y="4022377"/>
            <a:ext cx="857250" cy="476250"/>
          </a:xfrm>
          <a:prstGeom prst="rect">
            <a:avLst/>
          </a:prstGeom>
          <a:noFill/>
          <a:ln>
            <a:noFill/>
          </a:ln>
        </p:spPr>
      </p:pic>
      <p:sp>
        <p:nvSpPr>
          <p:cNvPr id="305" name="Google Shape;305;p25"/>
          <p:cNvSpPr txBox="1"/>
          <p:nvPr/>
        </p:nvSpPr>
        <p:spPr>
          <a:xfrm>
            <a:off x="1666875" y="4015829"/>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Inter"/>
                <a:ea typeface="Inter"/>
                <a:cs typeface="Inter"/>
                <a:sym typeface="Inter"/>
              </a:rPr>
              <a:t>https://media.easy-peasy.ai/6531d195-da7b-449f-a039-3b5c9e9bca15/85f6e639-0f97-4b5a-b72a-490219cd783a_medium.webp</a:t>
            </a:r>
            <a:endParaRPr/>
          </a:p>
        </p:txBody>
      </p:sp>
      <p:sp>
        <p:nvSpPr>
          <p:cNvPr id="306" name="Google Shape;306;p25"/>
          <p:cNvSpPr txBox="1"/>
          <p:nvPr/>
        </p:nvSpPr>
        <p:spPr>
          <a:xfrm>
            <a:off x="1666875" y="4261544"/>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easy-peasy.ai</a:t>
            </a:r>
            <a:endParaRPr/>
          </a:p>
        </p:txBody>
      </p:sp>
      <p:pic>
        <p:nvPicPr>
          <p:cNvPr descr="image.png" id="307" name="Google Shape;307;p25"/>
          <p:cNvPicPr preferRelativeResize="0"/>
          <p:nvPr/>
        </p:nvPicPr>
        <p:blipFill rotWithShape="1">
          <a:blip r:embed="rId8">
            <a:alphaModFix/>
          </a:blip>
          <a:srcRect b="0" l="0" r="0" t="0"/>
          <a:stretch/>
        </p:blipFill>
        <p:spPr>
          <a:xfrm>
            <a:off x="571500" y="4906267"/>
            <a:ext cx="857250" cy="476250"/>
          </a:xfrm>
          <a:prstGeom prst="rect">
            <a:avLst/>
          </a:prstGeom>
          <a:noFill/>
          <a:ln>
            <a:noFill/>
          </a:ln>
        </p:spPr>
      </p:pic>
      <p:sp>
        <p:nvSpPr>
          <p:cNvPr id="308" name="Google Shape;308;p25"/>
          <p:cNvSpPr txBox="1"/>
          <p:nvPr/>
        </p:nvSpPr>
        <p:spPr>
          <a:xfrm>
            <a:off x="1666875" y="4800600"/>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Inter"/>
                <a:ea typeface="Inter"/>
                <a:cs typeface="Inter"/>
                <a:sym typeface="Inter"/>
              </a:rPr>
              <a:t>https://media.istockphoto.com/id/1059510610/vector/it-communication-e-learning-internet-network-as-knowledge-base.jpg?s=612x612&amp;w=0&amp;k=20&amp;c=QEyHx6JnZleLmW9lYgpzvLv765rizr__5zwwKylo300=</a:t>
            </a:r>
            <a:endParaRPr/>
          </a:p>
        </p:txBody>
      </p:sp>
      <p:sp>
        <p:nvSpPr>
          <p:cNvPr id="309" name="Google Shape;309;p25"/>
          <p:cNvSpPr txBox="1"/>
          <p:nvPr/>
        </p:nvSpPr>
        <p:spPr>
          <a:xfrm>
            <a:off x="1666875" y="5244405"/>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www.istockphoto.com</a:t>
            </a:r>
            <a:endParaRPr/>
          </a:p>
        </p:txBody>
      </p:sp>
      <p:pic>
        <p:nvPicPr>
          <p:cNvPr descr="image.png" id="310" name="Google Shape;310;p25"/>
          <p:cNvPicPr preferRelativeResize="0"/>
          <p:nvPr/>
        </p:nvPicPr>
        <p:blipFill rotWithShape="1">
          <a:blip r:embed="rId9">
            <a:alphaModFix/>
          </a:blip>
          <a:srcRect b="0" l="0" r="0" t="0"/>
          <a:stretch/>
        </p:blipFill>
        <p:spPr>
          <a:xfrm>
            <a:off x="571500" y="5790009"/>
            <a:ext cx="1371600" cy="914400"/>
          </a:xfrm>
          <a:prstGeom prst="rect">
            <a:avLst/>
          </a:prstGeom>
          <a:noFill/>
          <a:ln>
            <a:noFill/>
          </a:ln>
        </p:spPr>
      </p:pic>
      <p:sp>
        <p:nvSpPr>
          <p:cNvPr id="311" name="Google Shape;311;p25"/>
          <p:cNvSpPr txBox="1"/>
          <p:nvPr/>
        </p:nvSpPr>
        <p:spPr>
          <a:xfrm>
            <a:off x="1666875" y="5783460"/>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Inter"/>
                <a:ea typeface="Inter"/>
                <a:cs typeface="Inter"/>
                <a:sym typeface="Inter"/>
              </a:rPr>
              <a:t>https://images.stockcake.com/public/3/e/7/3e773494-40fa-4840-bfc0-0d6f3b6eb7df_large/business-growth-visualization-stockcake.jpg</a:t>
            </a:r>
            <a:endParaRPr/>
          </a:p>
        </p:txBody>
      </p:sp>
      <p:sp>
        <p:nvSpPr>
          <p:cNvPr id="312" name="Google Shape;312;p25"/>
          <p:cNvSpPr txBox="1"/>
          <p:nvPr/>
        </p:nvSpPr>
        <p:spPr>
          <a:xfrm>
            <a:off x="1666875" y="6029176"/>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stockcake.com</a:t>
            </a:r>
            <a:endParaRPr/>
          </a:p>
        </p:txBody>
      </p:sp>
      <p:sp>
        <p:nvSpPr>
          <p:cNvPr id="313" name="Google Shape;313;p25"/>
          <p:cNvSpPr txBox="1"/>
          <p:nvPr/>
        </p:nvSpPr>
        <p:spPr>
          <a:xfrm>
            <a:off x="571500" y="442317"/>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Plus Jakarta Sans"/>
                <a:ea typeface="Plus Jakarta Sans"/>
                <a:cs typeface="Plus Jakarta Sans"/>
                <a:sym typeface="Plus Jakarta Sans"/>
              </a:rPr>
              <a:t>Image Sources</a:t>
            </a:r>
            <a:endParaRPr/>
          </a:p>
        </p:txBody>
      </p:sp>
      <p:sp>
        <p:nvSpPr>
          <p:cNvPr id="314" name="Google Shape;314;p25"/>
          <p:cNvSpPr/>
          <p:nvPr/>
        </p:nvSpPr>
        <p:spPr>
          <a:xfrm>
            <a:off x="571500" y="1118592"/>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